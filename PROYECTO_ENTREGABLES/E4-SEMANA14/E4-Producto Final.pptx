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omorrow Bold" charset="1" panose="00000000000000000000"/>
      <p:regular r:id="rId15"/>
    </p:embeddedFont>
    <p:embeddedFont>
      <p:font typeface="Inter" charset="1" panose="02000503000000020004"/>
      <p:regular r:id="rId16"/>
    </p:embeddedFont>
    <p:embeddedFont>
      <p:font typeface="Tomorrow" charset="1" panose="00000000000000000000"/>
      <p:regular r:id="rId17"/>
    </p:embeddedFont>
    <p:embeddedFont>
      <p:font typeface="Poppin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ln w="76200" cap="sq">
              <a:solidFill>
                <a:srgbClr val="004AAD"/>
              </a:solidFill>
              <a:prstDash val="solid"/>
              <a:miter/>
            </a:ln>
          </p:spPr>
        </p:sp>
        <p:sp>
          <p:nvSpPr>
            <p:cNvPr name="TextBox 4" id="4"/>
            <p:cNvSpPr txBox="true"/>
            <p:nvPr/>
          </p:nvSpPr>
          <p:spPr>
            <a:xfrm>
              <a:off x="0" y="-66675"/>
              <a:ext cx="4274726" cy="2234142"/>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3361462" y="1028700"/>
            <a:ext cx="3897838" cy="4114800"/>
          </a:xfrm>
          <a:custGeom>
            <a:avLst/>
            <a:gdLst/>
            <a:ahLst/>
            <a:cxnLst/>
            <a:rect r="r" b="b" t="t" l="l"/>
            <a:pathLst>
              <a:path h="4114800" w="3897838">
                <a:moveTo>
                  <a:pt x="0" y="0"/>
                </a:moveTo>
                <a:lnTo>
                  <a:pt x="3897838" y="0"/>
                </a:lnTo>
                <a:lnTo>
                  <a:pt x="389783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028700" y="5143500"/>
            <a:ext cx="3897838" cy="4114800"/>
          </a:xfrm>
          <a:custGeom>
            <a:avLst/>
            <a:gdLst/>
            <a:ahLst/>
            <a:cxnLst/>
            <a:rect r="r" b="b" t="t" l="l"/>
            <a:pathLst>
              <a:path h="4114800" w="3897838">
                <a:moveTo>
                  <a:pt x="3897838" y="4114800"/>
                </a:moveTo>
                <a:lnTo>
                  <a:pt x="0" y="4114800"/>
                </a:lnTo>
                <a:lnTo>
                  <a:pt x="0" y="0"/>
                </a:lnTo>
                <a:lnTo>
                  <a:pt x="3897838" y="0"/>
                </a:lnTo>
                <a:lnTo>
                  <a:pt x="389783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385853" y="460665"/>
            <a:ext cx="17516294" cy="9365669"/>
            <a:chOff x="0" y="0"/>
            <a:chExt cx="4613345" cy="2466678"/>
          </a:xfrm>
        </p:grpSpPr>
        <p:sp>
          <p:nvSpPr>
            <p:cNvPr name="Freeform 8" id="8"/>
            <p:cNvSpPr/>
            <p:nvPr/>
          </p:nvSpPr>
          <p:spPr>
            <a:xfrm flipH="false" flipV="false" rot="0">
              <a:off x="0" y="0"/>
              <a:ext cx="4613345" cy="2466678"/>
            </a:xfrm>
            <a:custGeom>
              <a:avLst/>
              <a:gdLst/>
              <a:ahLst/>
              <a:cxnLst/>
              <a:rect r="r" b="b" t="t" l="l"/>
              <a:pathLst>
                <a:path h="2466678" w="4613345">
                  <a:moveTo>
                    <a:pt x="0" y="0"/>
                  </a:moveTo>
                  <a:lnTo>
                    <a:pt x="4613345" y="0"/>
                  </a:lnTo>
                  <a:lnTo>
                    <a:pt x="4613345" y="2466678"/>
                  </a:lnTo>
                  <a:lnTo>
                    <a:pt x="0" y="2466678"/>
                  </a:lnTo>
                  <a:close/>
                </a:path>
              </a:pathLst>
            </a:custGeom>
            <a:ln w="66675" cap="sq">
              <a:solidFill>
                <a:srgbClr val="004AAD"/>
              </a:solidFill>
              <a:prstDash val="solid"/>
              <a:miter/>
            </a:ln>
          </p:spPr>
        </p:sp>
        <p:sp>
          <p:nvSpPr>
            <p:cNvPr name="TextBox 9" id="9"/>
            <p:cNvSpPr txBox="true"/>
            <p:nvPr/>
          </p:nvSpPr>
          <p:spPr>
            <a:xfrm>
              <a:off x="0" y="-66675"/>
              <a:ext cx="4613345" cy="2533353"/>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3651408" y="4366260"/>
            <a:ext cx="10282265" cy="1716405"/>
          </a:xfrm>
          <a:prstGeom prst="rect">
            <a:avLst/>
          </a:prstGeom>
        </p:spPr>
        <p:txBody>
          <a:bodyPr anchor="t" rtlCol="false" tIns="0" lIns="0" bIns="0" rIns="0">
            <a:spAutoFit/>
          </a:bodyPr>
          <a:lstStyle/>
          <a:p>
            <a:pPr algn="ctr">
              <a:lnSpc>
                <a:spcPts val="6509"/>
              </a:lnSpc>
            </a:pPr>
            <a:r>
              <a:rPr lang="en-US" b="true" sz="6999" spc="-454">
                <a:solidFill>
                  <a:srgbClr val="004AAD"/>
                </a:solidFill>
                <a:latin typeface="Tomorrow Bold"/>
                <a:ea typeface="Tomorrow Bold"/>
                <a:cs typeface="Tomorrow Bold"/>
                <a:sym typeface="Tomorrow Bold"/>
              </a:rPr>
              <a:t>SISTEMA DE MONITOREO TÉRMICO</a:t>
            </a:r>
          </a:p>
        </p:txBody>
      </p:sp>
      <p:grpSp>
        <p:nvGrpSpPr>
          <p:cNvPr name="Group 11" id="11"/>
          <p:cNvGrpSpPr/>
          <p:nvPr/>
        </p:nvGrpSpPr>
        <p:grpSpPr>
          <a:xfrm rot="0">
            <a:off x="2124253" y="3280074"/>
            <a:ext cx="4322162" cy="797110"/>
            <a:chOff x="0" y="0"/>
            <a:chExt cx="1138347" cy="209938"/>
          </a:xfrm>
        </p:grpSpPr>
        <p:sp>
          <p:nvSpPr>
            <p:cNvPr name="Freeform 12" id="12"/>
            <p:cNvSpPr/>
            <p:nvPr/>
          </p:nvSpPr>
          <p:spPr>
            <a:xfrm flipH="false" flipV="false" rot="0">
              <a:off x="0" y="0"/>
              <a:ext cx="1138347" cy="209938"/>
            </a:xfrm>
            <a:custGeom>
              <a:avLst/>
              <a:gdLst/>
              <a:ahLst/>
              <a:cxnLst/>
              <a:rect r="r" b="b" t="t" l="l"/>
              <a:pathLst>
                <a:path h="209938" w="1138347">
                  <a:moveTo>
                    <a:pt x="203200" y="0"/>
                  </a:moveTo>
                  <a:lnTo>
                    <a:pt x="1138347" y="0"/>
                  </a:lnTo>
                  <a:lnTo>
                    <a:pt x="935147" y="209938"/>
                  </a:lnTo>
                  <a:lnTo>
                    <a:pt x="0" y="209938"/>
                  </a:lnTo>
                  <a:lnTo>
                    <a:pt x="203200" y="0"/>
                  </a:lnTo>
                  <a:close/>
                </a:path>
              </a:pathLst>
            </a:custGeom>
            <a:solidFill>
              <a:srgbClr val="004AAD"/>
            </a:solidFill>
          </p:spPr>
        </p:sp>
        <p:sp>
          <p:nvSpPr>
            <p:cNvPr name="TextBox 13" id="13"/>
            <p:cNvSpPr txBox="true"/>
            <p:nvPr/>
          </p:nvSpPr>
          <p:spPr>
            <a:xfrm>
              <a:off x="101600" y="-47625"/>
              <a:ext cx="935147" cy="257563"/>
            </a:xfrm>
            <a:prstGeom prst="rect">
              <a:avLst/>
            </a:prstGeom>
          </p:spPr>
          <p:txBody>
            <a:bodyPr anchor="ctr" rtlCol="false" tIns="50800" lIns="50800" bIns="50800" rIns="50800"/>
            <a:lstStyle/>
            <a:p>
              <a:pPr algn="ctr">
                <a:lnSpc>
                  <a:spcPts val="3639"/>
                </a:lnSpc>
              </a:pPr>
              <a:r>
                <a:rPr lang="en-US" sz="2599">
                  <a:solidFill>
                    <a:srgbClr val="FEFEFE"/>
                  </a:solidFill>
                  <a:latin typeface="Inter"/>
                  <a:ea typeface="Inter"/>
                  <a:cs typeface="Inter"/>
                  <a:sym typeface="Inter"/>
                </a:rPr>
                <a:t>Thynk Unlimited</a:t>
              </a:r>
            </a:p>
          </p:txBody>
        </p:sp>
      </p:grpSp>
      <p:grpSp>
        <p:nvGrpSpPr>
          <p:cNvPr name="Group 14" id="14"/>
          <p:cNvGrpSpPr/>
          <p:nvPr/>
        </p:nvGrpSpPr>
        <p:grpSpPr>
          <a:xfrm rot="0">
            <a:off x="8792541" y="6403790"/>
            <a:ext cx="7217209" cy="797110"/>
            <a:chOff x="0" y="0"/>
            <a:chExt cx="1900829" cy="209938"/>
          </a:xfrm>
        </p:grpSpPr>
        <p:sp>
          <p:nvSpPr>
            <p:cNvPr name="Freeform 15" id="15"/>
            <p:cNvSpPr/>
            <p:nvPr/>
          </p:nvSpPr>
          <p:spPr>
            <a:xfrm flipH="false" flipV="false" rot="0">
              <a:off x="0" y="0"/>
              <a:ext cx="1900829" cy="209938"/>
            </a:xfrm>
            <a:custGeom>
              <a:avLst/>
              <a:gdLst/>
              <a:ahLst/>
              <a:cxnLst/>
              <a:rect r="r" b="b" t="t" l="l"/>
              <a:pathLst>
                <a:path h="209938" w="1900829">
                  <a:moveTo>
                    <a:pt x="203200" y="0"/>
                  </a:moveTo>
                  <a:lnTo>
                    <a:pt x="1900829" y="0"/>
                  </a:lnTo>
                  <a:lnTo>
                    <a:pt x="1697629" y="209938"/>
                  </a:lnTo>
                  <a:lnTo>
                    <a:pt x="0" y="209938"/>
                  </a:lnTo>
                  <a:lnTo>
                    <a:pt x="203200" y="0"/>
                  </a:lnTo>
                  <a:close/>
                </a:path>
              </a:pathLst>
            </a:custGeom>
            <a:solidFill>
              <a:srgbClr val="004AAD"/>
            </a:solidFill>
          </p:spPr>
        </p:sp>
        <p:sp>
          <p:nvSpPr>
            <p:cNvPr name="TextBox 16" id="16"/>
            <p:cNvSpPr txBox="true"/>
            <p:nvPr/>
          </p:nvSpPr>
          <p:spPr>
            <a:xfrm>
              <a:off x="101600" y="-47625"/>
              <a:ext cx="1697629" cy="257563"/>
            </a:xfrm>
            <a:prstGeom prst="rect">
              <a:avLst/>
            </a:prstGeom>
          </p:spPr>
          <p:txBody>
            <a:bodyPr anchor="ctr" rtlCol="false" tIns="50800" lIns="50800" bIns="50800" rIns="50800"/>
            <a:lstStyle/>
            <a:p>
              <a:pPr algn="ctr">
                <a:lnSpc>
                  <a:spcPts val="3639"/>
                </a:lnSpc>
              </a:pPr>
              <a:r>
                <a:rPr lang="en-US" sz="2599">
                  <a:solidFill>
                    <a:srgbClr val="FEFEFE"/>
                  </a:solidFill>
                  <a:latin typeface="Inter"/>
                  <a:ea typeface="Inter"/>
                  <a:cs typeface="Inter"/>
                  <a:sym typeface="Inter"/>
                </a:rPr>
                <a:t>Con ESP32</a:t>
              </a:r>
            </a:p>
          </p:txBody>
        </p:sp>
      </p:grpSp>
      <p:grpSp>
        <p:nvGrpSpPr>
          <p:cNvPr name="Group 17" id="17"/>
          <p:cNvGrpSpPr/>
          <p:nvPr/>
        </p:nvGrpSpPr>
        <p:grpSpPr>
          <a:xfrm rot="0">
            <a:off x="14230708" y="3576106"/>
            <a:ext cx="1478228" cy="398555"/>
            <a:chOff x="0" y="0"/>
            <a:chExt cx="1970971" cy="531406"/>
          </a:xfrm>
        </p:grpSpPr>
        <p:grpSp>
          <p:nvGrpSpPr>
            <p:cNvPr name="Group 18" id="18"/>
            <p:cNvGrpSpPr/>
            <p:nvPr/>
          </p:nvGrpSpPr>
          <p:grpSpPr>
            <a:xfrm rot="0">
              <a:off x="1439565" y="0"/>
              <a:ext cx="531406" cy="53140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0" id="20"/>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721906" y="0"/>
              <a:ext cx="531406" cy="53140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3" id="23"/>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0" y="0"/>
              <a:ext cx="531406" cy="53140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6" id="26"/>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grpSp>
        <p:nvGrpSpPr>
          <p:cNvPr name="Group 27" id="27"/>
          <p:cNvGrpSpPr/>
          <p:nvPr/>
        </p:nvGrpSpPr>
        <p:grpSpPr>
          <a:xfrm rot="0">
            <a:off x="2389228" y="6603068"/>
            <a:ext cx="1478228" cy="398555"/>
            <a:chOff x="0" y="0"/>
            <a:chExt cx="1970971" cy="531406"/>
          </a:xfrm>
        </p:grpSpPr>
        <p:grpSp>
          <p:nvGrpSpPr>
            <p:cNvPr name="Group 28" id="28"/>
            <p:cNvGrpSpPr/>
            <p:nvPr/>
          </p:nvGrpSpPr>
          <p:grpSpPr>
            <a:xfrm rot="0">
              <a:off x="1439565" y="0"/>
              <a:ext cx="531406" cy="53140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0" id="30"/>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31" id="31"/>
            <p:cNvGrpSpPr/>
            <p:nvPr/>
          </p:nvGrpSpPr>
          <p:grpSpPr>
            <a:xfrm rot="0">
              <a:off x="721906" y="0"/>
              <a:ext cx="531406" cy="531406"/>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3" id="33"/>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34" id="34"/>
            <p:cNvGrpSpPr/>
            <p:nvPr/>
          </p:nvGrpSpPr>
          <p:grpSpPr>
            <a:xfrm rot="0">
              <a:off x="0" y="0"/>
              <a:ext cx="531406" cy="53140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6" id="36"/>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162065" cy="8229600"/>
            <a:chOff x="0" y="0"/>
            <a:chExt cx="4256676" cy="2167467"/>
          </a:xfrm>
        </p:grpSpPr>
        <p:sp>
          <p:nvSpPr>
            <p:cNvPr name="Freeform 3" id="3"/>
            <p:cNvSpPr/>
            <p:nvPr/>
          </p:nvSpPr>
          <p:spPr>
            <a:xfrm flipH="false" flipV="false" rot="0">
              <a:off x="0" y="0"/>
              <a:ext cx="4256676" cy="2167467"/>
            </a:xfrm>
            <a:custGeom>
              <a:avLst/>
              <a:gdLst/>
              <a:ahLst/>
              <a:cxnLst/>
              <a:rect r="r" b="b" t="t" l="l"/>
              <a:pathLst>
                <a:path h="2167467" w="4256676">
                  <a:moveTo>
                    <a:pt x="0" y="0"/>
                  </a:moveTo>
                  <a:lnTo>
                    <a:pt x="4256676" y="0"/>
                  </a:lnTo>
                  <a:lnTo>
                    <a:pt x="4256676" y="2167467"/>
                  </a:lnTo>
                  <a:lnTo>
                    <a:pt x="0" y="2167467"/>
                  </a:lnTo>
                  <a:close/>
                </a:path>
              </a:pathLst>
            </a:custGeom>
            <a:ln w="76200" cap="sq">
              <a:solidFill>
                <a:srgbClr val="004AAD"/>
              </a:solidFill>
              <a:prstDash val="solid"/>
              <a:miter/>
            </a:ln>
          </p:spPr>
        </p:sp>
        <p:sp>
          <p:nvSpPr>
            <p:cNvPr name="TextBox 4" id="4"/>
            <p:cNvSpPr txBox="true"/>
            <p:nvPr/>
          </p:nvSpPr>
          <p:spPr>
            <a:xfrm>
              <a:off x="0" y="-66675"/>
              <a:ext cx="4256676" cy="2234142"/>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8137523" y="1028700"/>
            <a:ext cx="9053243" cy="8229600"/>
            <a:chOff x="0" y="0"/>
            <a:chExt cx="2384393" cy="2167467"/>
          </a:xfrm>
        </p:grpSpPr>
        <p:sp>
          <p:nvSpPr>
            <p:cNvPr name="Freeform 6" id="6"/>
            <p:cNvSpPr/>
            <p:nvPr/>
          </p:nvSpPr>
          <p:spPr>
            <a:xfrm flipH="false" flipV="false" rot="0">
              <a:off x="0" y="0"/>
              <a:ext cx="2384393" cy="2167467"/>
            </a:xfrm>
            <a:custGeom>
              <a:avLst/>
              <a:gdLst/>
              <a:ahLst/>
              <a:cxnLst/>
              <a:rect r="r" b="b" t="t" l="l"/>
              <a:pathLst>
                <a:path h="2167467" w="2384393">
                  <a:moveTo>
                    <a:pt x="0" y="0"/>
                  </a:moveTo>
                  <a:lnTo>
                    <a:pt x="2384393" y="0"/>
                  </a:lnTo>
                  <a:lnTo>
                    <a:pt x="2384393" y="2167467"/>
                  </a:lnTo>
                  <a:lnTo>
                    <a:pt x="0" y="2167467"/>
                  </a:lnTo>
                  <a:close/>
                </a:path>
              </a:pathLst>
            </a:custGeom>
            <a:ln w="76200" cap="sq">
              <a:solidFill>
                <a:srgbClr val="004AAD"/>
              </a:solidFill>
              <a:prstDash val="solid"/>
              <a:miter/>
            </a:ln>
          </p:spPr>
        </p:sp>
        <p:sp>
          <p:nvSpPr>
            <p:cNvPr name="TextBox 7" id="7"/>
            <p:cNvSpPr txBox="true"/>
            <p:nvPr/>
          </p:nvSpPr>
          <p:spPr>
            <a:xfrm>
              <a:off x="0" y="-66675"/>
              <a:ext cx="2384393" cy="2234142"/>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3361462" y="1028700"/>
            <a:ext cx="3897838" cy="4114800"/>
          </a:xfrm>
          <a:custGeom>
            <a:avLst/>
            <a:gdLst/>
            <a:ahLst/>
            <a:cxnLst/>
            <a:rect r="r" b="b" t="t" l="l"/>
            <a:pathLst>
              <a:path h="4114800" w="3897838">
                <a:moveTo>
                  <a:pt x="0" y="0"/>
                </a:moveTo>
                <a:lnTo>
                  <a:pt x="3897838" y="0"/>
                </a:lnTo>
                <a:lnTo>
                  <a:pt x="389783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8137523" y="5143500"/>
            <a:ext cx="3897838" cy="4114800"/>
          </a:xfrm>
          <a:custGeom>
            <a:avLst/>
            <a:gdLst/>
            <a:ahLst/>
            <a:cxnLst/>
            <a:rect r="r" b="b" t="t" l="l"/>
            <a:pathLst>
              <a:path h="4114800" w="3897838">
                <a:moveTo>
                  <a:pt x="3897838" y="4114800"/>
                </a:moveTo>
                <a:lnTo>
                  <a:pt x="0" y="4114800"/>
                </a:lnTo>
                <a:lnTo>
                  <a:pt x="0" y="0"/>
                </a:lnTo>
                <a:lnTo>
                  <a:pt x="3897838" y="0"/>
                </a:lnTo>
                <a:lnTo>
                  <a:pt x="389783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525559" y="1651933"/>
            <a:ext cx="4277170" cy="6983135"/>
          </a:xfrm>
          <a:custGeom>
            <a:avLst/>
            <a:gdLst/>
            <a:ahLst/>
            <a:cxnLst/>
            <a:rect r="r" b="b" t="t" l="l"/>
            <a:pathLst>
              <a:path h="6983135" w="4277170">
                <a:moveTo>
                  <a:pt x="0" y="0"/>
                </a:moveTo>
                <a:lnTo>
                  <a:pt x="4277170" y="0"/>
                </a:lnTo>
                <a:lnTo>
                  <a:pt x="4277170" y="6983134"/>
                </a:lnTo>
                <a:lnTo>
                  <a:pt x="0" y="6983134"/>
                </a:lnTo>
                <a:lnTo>
                  <a:pt x="0" y="0"/>
                </a:lnTo>
                <a:close/>
              </a:path>
            </a:pathLst>
          </a:custGeom>
          <a:blipFill>
            <a:blip r:embed="rId4"/>
            <a:stretch>
              <a:fillRect l="0" t="0" r="0" b="0"/>
            </a:stretch>
          </a:blipFill>
        </p:spPr>
      </p:sp>
      <p:sp>
        <p:nvSpPr>
          <p:cNvPr name="TextBox 11" id="11"/>
          <p:cNvSpPr txBox="true"/>
          <p:nvPr/>
        </p:nvSpPr>
        <p:spPr>
          <a:xfrm rot="0">
            <a:off x="1815027" y="2068830"/>
            <a:ext cx="5883749" cy="2177415"/>
          </a:xfrm>
          <a:prstGeom prst="rect">
            <a:avLst/>
          </a:prstGeom>
        </p:spPr>
        <p:txBody>
          <a:bodyPr anchor="t" rtlCol="false" tIns="0" lIns="0" bIns="0" rIns="0">
            <a:spAutoFit/>
          </a:bodyPr>
          <a:lstStyle/>
          <a:p>
            <a:pPr algn="l">
              <a:lnSpc>
                <a:spcPts val="5580"/>
              </a:lnSpc>
            </a:pPr>
            <a:r>
              <a:rPr lang="en-US" sz="6000" spc="-390">
                <a:solidFill>
                  <a:srgbClr val="004AAD"/>
                </a:solidFill>
                <a:latin typeface="Tomorrow"/>
                <a:ea typeface="Tomorrow"/>
                <a:cs typeface="Tomorrow"/>
                <a:sym typeface="Tomorrow"/>
              </a:rPr>
              <a:t>¿QUÉ PROBLEMA BUSCAMOS SOLUCIONAR</a:t>
            </a:r>
          </a:p>
        </p:txBody>
      </p:sp>
      <p:sp>
        <p:nvSpPr>
          <p:cNvPr name="TextBox 12" id="12"/>
          <p:cNvSpPr txBox="true"/>
          <p:nvPr/>
        </p:nvSpPr>
        <p:spPr>
          <a:xfrm rot="0">
            <a:off x="1530269" y="5300323"/>
            <a:ext cx="5961585" cy="2526030"/>
          </a:xfrm>
          <a:prstGeom prst="rect">
            <a:avLst/>
          </a:prstGeom>
        </p:spPr>
        <p:txBody>
          <a:bodyPr anchor="t" rtlCol="false" tIns="0" lIns="0" bIns="0" rIns="0">
            <a:spAutoFit/>
          </a:bodyPr>
          <a:lstStyle/>
          <a:p>
            <a:pPr algn="just">
              <a:lnSpc>
                <a:spcPts val="2520"/>
              </a:lnSpc>
              <a:spcBef>
                <a:spcPct val="0"/>
              </a:spcBef>
            </a:pPr>
            <a:r>
              <a:rPr lang="en-US" sz="1800">
                <a:solidFill>
                  <a:srgbClr val="004AAD"/>
                </a:solidFill>
                <a:latin typeface="Poppins"/>
                <a:ea typeface="Poppins"/>
                <a:cs typeface="Poppins"/>
                <a:sym typeface="Poppins"/>
              </a:rPr>
              <a:t>En refrigeradores utilizados para almacenar alimentos, medicamentos u otros productos sensibles, es importante mantener una temperatura adecuada. El monitoreo manual puede ocasionar que las variaciones de temperatura no sean detectadas a tiempo, generando pérdidas de productos y afectando su conservación.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162065" cy="8229600"/>
            <a:chOff x="0" y="0"/>
            <a:chExt cx="4256676" cy="2167467"/>
          </a:xfrm>
        </p:grpSpPr>
        <p:sp>
          <p:nvSpPr>
            <p:cNvPr name="Freeform 3" id="3"/>
            <p:cNvSpPr/>
            <p:nvPr/>
          </p:nvSpPr>
          <p:spPr>
            <a:xfrm flipH="false" flipV="false" rot="0">
              <a:off x="0" y="0"/>
              <a:ext cx="4256676" cy="2167467"/>
            </a:xfrm>
            <a:custGeom>
              <a:avLst/>
              <a:gdLst/>
              <a:ahLst/>
              <a:cxnLst/>
              <a:rect r="r" b="b" t="t" l="l"/>
              <a:pathLst>
                <a:path h="2167467" w="4256676">
                  <a:moveTo>
                    <a:pt x="0" y="0"/>
                  </a:moveTo>
                  <a:lnTo>
                    <a:pt x="4256676" y="0"/>
                  </a:lnTo>
                  <a:lnTo>
                    <a:pt x="4256676" y="2167467"/>
                  </a:lnTo>
                  <a:lnTo>
                    <a:pt x="0" y="2167467"/>
                  </a:lnTo>
                  <a:close/>
                </a:path>
              </a:pathLst>
            </a:custGeom>
            <a:ln w="76200" cap="sq">
              <a:solidFill>
                <a:srgbClr val="004AAD"/>
              </a:solidFill>
              <a:prstDash val="solid"/>
              <a:miter/>
            </a:ln>
          </p:spPr>
        </p:sp>
        <p:sp>
          <p:nvSpPr>
            <p:cNvPr name="TextBox 4" id="4"/>
            <p:cNvSpPr txBox="true"/>
            <p:nvPr/>
          </p:nvSpPr>
          <p:spPr>
            <a:xfrm>
              <a:off x="0" y="-66675"/>
              <a:ext cx="4256676" cy="2234142"/>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028700" y="1028700"/>
            <a:ext cx="9121777" cy="8229600"/>
            <a:chOff x="0" y="0"/>
            <a:chExt cx="12162370" cy="10972800"/>
          </a:xfrm>
        </p:grpSpPr>
        <p:grpSp>
          <p:nvGrpSpPr>
            <p:cNvPr name="Group 6" id="6"/>
            <p:cNvGrpSpPr/>
            <p:nvPr/>
          </p:nvGrpSpPr>
          <p:grpSpPr>
            <a:xfrm rot="0">
              <a:off x="0" y="0"/>
              <a:ext cx="12070990" cy="10972800"/>
              <a:chOff x="0" y="0"/>
              <a:chExt cx="2384393" cy="2167467"/>
            </a:xfrm>
          </p:grpSpPr>
          <p:sp>
            <p:nvSpPr>
              <p:cNvPr name="Freeform 7" id="7"/>
              <p:cNvSpPr/>
              <p:nvPr/>
            </p:nvSpPr>
            <p:spPr>
              <a:xfrm flipH="false" flipV="false" rot="0">
                <a:off x="0" y="0"/>
                <a:ext cx="2384393" cy="2167467"/>
              </a:xfrm>
              <a:custGeom>
                <a:avLst/>
                <a:gdLst/>
                <a:ahLst/>
                <a:cxnLst/>
                <a:rect r="r" b="b" t="t" l="l"/>
                <a:pathLst>
                  <a:path h="2167467" w="2384393">
                    <a:moveTo>
                      <a:pt x="0" y="0"/>
                    </a:moveTo>
                    <a:lnTo>
                      <a:pt x="2384393" y="0"/>
                    </a:lnTo>
                    <a:lnTo>
                      <a:pt x="2384393" y="2167467"/>
                    </a:lnTo>
                    <a:lnTo>
                      <a:pt x="0" y="2167467"/>
                    </a:lnTo>
                    <a:close/>
                  </a:path>
                </a:pathLst>
              </a:custGeom>
              <a:ln w="76200" cap="sq">
                <a:solidFill>
                  <a:srgbClr val="004AAD"/>
                </a:solidFill>
                <a:prstDash val="solid"/>
                <a:miter/>
              </a:ln>
            </p:spPr>
          </p:sp>
          <p:sp>
            <p:nvSpPr>
              <p:cNvPr name="TextBox 8" id="8"/>
              <p:cNvSpPr txBox="true"/>
              <p:nvPr/>
            </p:nvSpPr>
            <p:spPr>
              <a:xfrm>
                <a:off x="0" y="-66675"/>
                <a:ext cx="2384393" cy="2234142"/>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false" rot="0">
              <a:off x="6965253" y="0"/>
              <a:ext cx="5197117" cy="5486400"/>
            </a:xfrm>
            <a:custGeom>
              <a:avLst/>
              <a:gdLst/>
              <a:ahLst/>
              <a:cxnLst/>
              <a:rect r="r" b="b" t="t" l="l"/>
              <a:pathLst>
                <a:path h="5486400" w="5197117">
                  <a:moveTo>
                    <a:pt x="0" y="0"/>
                  </a:moveTo>
                  <a:lnTo>
                    <a:pt x="5197117" y="0"/>
                  </a:lnTo>
                  <a:lnTo>
                    <a:pt x="5197117" y="5486400"/>
                  </a:lnTo>
                  <a:lnTo>
                    <a:pt x="0" y="5486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true" rot="0">
              <a:off x="0" y="5486400"/>
              <a:ext cx="5197117" cy="5486400"/>
            </a:xfrm>
            <a:custGeom>
              <a:avLst/>
              <a:gdLst/>
              <a:ahLst/>
              <a:cxnLst/>
              <a:rect r="r" b="b" t="t" l="l"/>
              <a:pathLst>
                <a:path h="5486400" w="5197117">
                  <a:moveTo>
                    <a:pt x="5197117" y="5486400"/>
                  </a:moveTo>
                  <a:lnTo>
                    <a:pt x="0" y="5486400"/>
                  </a:lnTo>
                  <a:lnTo>
                    <a:pt x="0" y="0"/>
                  </a:lnTo>
                  <a:lnTo>
                    <a:pt x="5197117" y="0"/>
                  </a:lnTo>
                  <a:lnTo>
                    <a:pt x="5197117" y="548640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11" id="11"/>
          <p:cNvSpPr/>
          <p:nvPr/>
        </p:nvSpPr>
        <p:spPr>
          <a:xfrm flipH="false" flipV="false" rot="0">
            <a:off x="2800074" y="2131879"/>
            <a:ext cx="5579029" cy="6023243"/>
          </a:xfrm>
          <a:custGeom>
            <a:avLst/>
            <a:gdLst/>
            <a:ahLst/>
            <a:cxnLst/>
            <a:rect r="r" b="b" t="t" l="l"/>
            <a:pathLst>
              <a:path h="6023243" w="5579029">
                <a:moveTo>
                  <a:pt x="0" y="0"/>
                </a:moveTo>
                <a:lnTo>
                  <a:pt x="5579029" y="0"/>
                </a:lnTo>
                <a:lnTo>
                  <a:pt x="5579029" y="6023242"/>
                </a:lnTo>
                <a:lnTo>
                  <a:pt x="0" y="60232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1260299" y="1463732"/>
            <a:ext cx="5172250" cy="1640526"/>
          </a:xfrm>
          <a:prstGeom prst="rect">
            <a:avLst/>
          </a:prstGeom>
        </p:spPr>
        <p:txBody>
          <a:bodyPr anchor="t" rtlCol="false" tIns="0" lIns="0" bIns="0" rIns="0">
            <a:spAutoFit/>
          </a:bodyPr>
          <a:lstStyle/>
          <a:p>
            <a:pPr algn="l">
              <a:lnSpc>
                <a:spcPts val="6260"/>
              </a:lnSpc>
            </a:pPr>
            <a:r>
              <a:rPr lang="en-US" sz="6731" spc="-437">
                <a:solidFill>
                  <a:srgbClr val="004AAD"/>
                </a:solidFill>
                <a:latin typeface="Tomorrow"/>
                <a:ea typeface="Tomorrow"/>
                <a:cs typeface="Tomorrow"/>
                <a:sym typeface="Tomorrow"/>
              </a:rPr>
              <a:t>PROBLEMAS PRINCIPALES</a:t>
            </a:r>
          </a:p>
        </p:txBody>
      </p:sp>
      <p:sp>
        <p:nvSpPr>
          <p:cNvPr name="TextBox 13" id="13"/>
          <p:cNvSpPr txBox="true"/>
          <p:nvPr/>
        </p:nvSpPr>
        <p:spPr>
          <a:xfrm rot="0">
            <a:off x="10466793" y="3230907"/>
            <a:ext cx="5961585" cy="1583055"/>
          </a:xfrm>
          <a:prstGeom prst="rect">
            <a:avLst/>
          </a:prstGeom>
        </p:spPr>
        <p:txBody>
          <a:bodyPr anchor="t" rtlCol="false" tIns="0" lIns="0" bIns="0" rIns="0">
            <a:spAutoFit/>
          </a:bodyPr>
          <a:lstStyle/>
          <a:p>
            <a:pPr algn="just" marL="388620" indent="-194310" lvl="1">
              <a:lnSpc>
                <a:spcPts val="2520"/>
              </a:lnSpc>
              <a:buFont typeface="Arial"/>
              <a:buChar char="•"/>
            </a:pPr>
            <a:r>
              <a:rPr lang="en-US" sz="1800">
                <a:solidFill>
                  <a:srgbClr val="004AAD"/>
                </a:solidFill>
                <a:latin typeface="Poppins"/>
                <a:ea typeface="Poppins"/>
                <a:cs typeface="Poppins"/>
                <a:sym typeface="Poppins"/>
              </a:rPr>
              <a:t>No existe monitoreo continuo.</a:t>
            </a:r>
          </a:p>
          <a:p>
            <a:pPr algn="just" marL="388620" indent="-194310" lvl="1">
              <a:lnSpc>
                <a:spcPts val="2520"/>
              </a:lnSpc>
              <a:buFont typeface="Arial"/>
              <a:buChar char="•"/>
            </a:pPr>
            <a:r>
              <a:rPr lang="en-US" sz="1800">
                <a:solidFill>
                  <a:srgbClr val="004AAD"/>
                </a:solidFill>
                <a:latin typeface="Poppins"/>
                <a:ea typeface="Poppins"/>
                <a:cs typeface="Poppins"/>
                <a:sym typeface="Poppins"/>
              </a:rPr>
              <a:t>Las fallas pueden detectarse demasiado tarde.</a:t>
            </a:r>
          </a:p>
          <a:p>
            <a:pPr algn="just" marL="388620" indent="-194310" lvl="1">
              <a:lnSpc>
                <a:spcPts val="2520"/>
              </a:lnSpc>
              <a:buFont typeface="Arial"/>
              <a:buChar char="•"/>
            </a:pPr>
            <a:r>
              <a:rPr lang="en-US" sz="1800">
                <a:solidFill>
                  <a:srgbClr val="004AAD"/>
                </a:solidFill>
                <a:latin typeface="Poppins"/>
                <a:ea typeface="Poppins"/>
                <a:cs typeface="Poppins"/>
                <a:sym typeface="Poppins"/>
              </a:rPr>
              <a:t>No hay alertas inmediatas.</a:t>
            </a:r>
          </a:p>
          <a:p>
            <a:pPr algn="just" marL="388620" indent="-194310" lvl="1">
              <a:lnSpc>
                <a:spcPts val="2520"/>
              </a:lnSpc>
              <a:buFont typeface="Arial"/>
              <a:buChar char="•"/>
            </a:pPr>
            <a:r>
              <a:rPr lang="en-US" sz="1800">
                <a:solidFill>
                  <a:srgbClr val="004AAD"/>
                </a:solidFill>
                <a:latin typeface="Poppins"/>
                <a:ea typeface="Poppins"/>
                <a:cs typeface="Poppins"/>
                <a:sym typeface="Poppins"/>
              </a:rPr>
              <a:t>Se requiere supervisión constante.</a:t>
            </a:r>
          </a:p>
          <a:p>
            <a:pPr algn="just">
              <a:lnSpc>
                <a:spcPts val="2520"/>
              </a:lnSpc>
              <a:spcBef>
                <a:spcPct val="0"/>
              </a:spcBef>
            </a:pPr>
          </a:p>
        </p:txBody>
      </p:sp>
      <p:sp>
        <p:nvSpPr>
          <p:cNvPr name="TextBox 14" id="14"/>
          <p:cNvSpPr txBox="true"/>
          <p:nvPr/>
        </p:nvSpPr>
        <p:spPr>
          <a:xfrm rot="0">
            <a:off x="11930571" y="4985412"/>
            <a:ext cx="3823365" cy="1640526"/>
          </a:xfrm>
          <a:prstGeom prst="rect">
            <a:avLst/>
          </a:prstGeom>
        </p:spPr>
        <p:txBody>
          <a:bodyPr anchor="t" rtlCol="false" tIns="0" lIns="0" bIns="0" rIns="0">
            <a:spAutoFit/>
          </a:bodyPr>
          <a:lstStyle/>
          <a:p>
            <a:pPr algn="l">
              <a:lnSpc>
                <a:spcPts val="6260"/>
              </a:lnSpc>
            </a:pPr>
            <a:r>
              <a:rPr lang="en-US" sz="6731" spc="-437">
                <a:solidFill>
                  <a:srgbClr val="004AAD"/>
                </a:solidFill>
                <a:latin typeface="Tomorrow"/>
                <a:ea typeface="Tomorrow"/>
                <a:cs typeface="Tomorrow"/>
                <a:sym typeface="Tomorrow"/>
              </a:rPr>
              <a:t>OBJETIVO GENERAL</a:t>
            </a:r>
          </a:p>
        </p:txBody>
      </p:sp>
      <p:sp>
        <p:nvSpPr>
          <p:cNvPr name="TextBox 15" id="15"/>
          <p:cNvSpPr txBox="true"/>
          <p:nvPr/>
        </p:nvSpPr>
        <p:spPr>
          <a:xfrm rot="0">
            <a:off x="10861461" y="6911160"/>
            <a:ext cx="5961585" cy="1583055"/>
          </a:xfrm>
          <a:prstGeom prst="rect">
            <a:avLst/>
          </a:prstGeom>
        </p:spPr>
        <p:txBody>
          <a:bodyPr anchor="t" rtlCol="false" tIns="0" lIns="0" bIns="0" rIns="0">
            <a:spAutoFit/>
          </a:bodyPr>
          <a:lstStyle/>
          <a:p>
            <a:pPr algn="just">
              <a:lnSpc>
                <a:spcPts val="2520"/>
              </a:lnSpc>
              <a:spcBef>
                <a:spcPct val="0"/>
              </a:spcBef>
            </a:pPr>
            <a:r>
              <a:rPr lang="en-US" sz="1800">
                <a:solidFill>
                  <a:srgbClr val="004AAD"/>
                </a:solidFill>
                <a:latin typeface="Poppins"/>
                <a:ea typeface="Poppins"/>
                <a:cs typeface="Poppins"/>
                <a:sym typeface="Poppins"/>
              </a:rPr>
              <a:t>Diseñar e implementar un sistema de monitoreo térmico basado en ESP32 que permita visualizar la temperatura y humedad en tiempo real, así como generar alertas cuando se detecten condiciones fuera del rango establecido.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5185" y="597308"/>
            <a:ext cx="17069096" cy="9092385"/>
            <a:chOff x="0" y="0"/>
            <a:chExt cx="4495564" cy="2394702"/>
          </a:xfrm>
        </p:grpSpPr>
        <p:sp>
          <p:nvSpPr>
            <p:cNvPr name="Freeform 3" id="3"/>
            <p:cNvSpPr/>
            <p:nvPr/>
          </p:nvSpPr>
          <p:spPr>
            <a:xfrm flipH="false" flipV="false" rot="0">
              <a:off x="0" y="0"/>
              <a:ext cx="4495564" cy="2394702"/>
            </a:xfrm>
            <a:custGeom>
              <a:avLst/>
              <a:gdLst/>
              <a:ahLst/>
              <a:cxnLst/>
              <a:rect r="r" b="b" t="t" l="l"/>
              <a:pathLst>
                <a:path h="2394702" w="4495564">
                  <a:moveTo>
                    <a:pt x="0" y="0"/>
                  </a:moveTo>
                  <a:lnTo>
                    <a:pt x="4495564" y="0"/>
                  </a:lnTo>
                  <a:lnTo>
                    <a:pt x="4495564" y="2394702"/>
                  </a:lnTo>
                  <a:lnTo>
                    <a:pt x="0" y="2394702"/>
                  </a:lnTo>
                  <a:close/>
                </a:path>
              </a:pathLst>
            </a:custGeom>
            <a:ln w="76200" cap="sq">
              <a:solidFill>
                <a:srgbClr val="004AAD"/>
              </a:solidFill>
              <a:prstDash val="solid"/>
              <a:miter/>
            </a:ln>
          </p:spPr>
        </p:sp>
        <p:sp>
          <p:nvSpPr>
            <p:cNvPr name="TextBox 4" id="4"/>
            <p:cNvSpPr txBox="true"/>
            <p:nvPr/>
          </p:nvSpPr>
          <p:spPr>
            <a:xfrm>
              <a:off x="0" y="-66675"/>
              <a:ext cx="4495564" cy="2461377"/>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0400548" y="2324521"/>
            <a:ext cx="6790217" cy="6933779"/>
            <a:chOff x="0" y="0"/>
            <a:chExt cx="1788370" cy="1826181"/>
          </a:xfrm>
        </p:grpSpPr>
        <p:sp>
          <p:nvSpPr>
            <p:cNvPr name="Freeform 6" id="6"/>
            <p:cNvSpPr/>
            <p:nvPr/>
          </p:nvSpPr>
          <p:spPr>
            <a:xfrm flipH="false" flipV="false" rot="0">
              <a:off x="0" y="0"/>
              <a:ext cx="1788370" cy="1826181"/>
            </a:xfrm>
            <a:custGeom>
              <a:avLst/>
              <a:gdLst/>
              <a:ahLst/>
              <a:cxnLst/>
              <a:rect r="r" b="b" t="t" l="l"/>
              <a:pathLst>
                <a:path h="1826181" w="1788370">
                  <a:moveTo>
                    <a:pt x="0" y="0"/>
                  </a:moveTo>
                  <a:lnTo>
                    <a:pt x="1788370" y="0"/>
                  </a:lnTo>
                  <a:lnTo>
                    <a:pt x="1788370" y="1826181"/>
                  </a:lnTo>
                  <a:lnTo>
                    <a:pt x="0" y="1826181"/>
                  </a:lnTo>
                  <a:close/>
                </a:path>
              </a:pathLst>
            </a:custGeom>
            <a:ln w="76200" cap="sq">
              <a:solidFill>
                <a:srgbClr val="004AAD"/>
              </a:solidFill>
              <a:prstDash val="solid"/>
              <a:miter/>
            </a:ln>
          </p:spPr>
        </p:sp>
        <p:sp>
          <p:nvSpPr>
            <p:cNvPr name="TextBox 7" id="7"/>
            <p:cNvSpPr txBox="true"/>
            <p:nvPr/>
          </p:nvSpPr>
          <p:spPr>
            <a:xfrm>
              <a:off x="0" y="-66675"/>
              <a:ext cx="1788370" cy="1892856"/>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10614950" y="2772230"/>
            <a:ext cx="6361413" cy="797110"/>
            <a:chOff x="0" y="0"/>
            <a:chExt cx="1675434" cy="209938"/>
          </a:xfrm>
        </p:grpSpPr>
        <p:sp>
          <p:nvSpPr>
            <p:cNvPr name="Freeform 9" id="9"/>
            <p:cNvSpPr/>
            <p:nvPr/>
          </p:nvSpPr>
          <p:spPr>
            <a:xfrm flipH="false" flipV="false" rot="0">
              <a:off x="0" y="0"/>
              <a:ext cx="1675434" cy="209938"/>
            </a:xfrm>
            <a:custGeom>
              <a:avLst/>
              <a:gdLst/>
              <a:ahLst/>
              <a:cxnLst/>
              <a:rect r="r" b="b" t="t" l="l"/>
              <a:pathLst>
                <a:path h="209938" w="1675434">
                  <a:moveTo>
                    <a:pt x="203200" y="0"/>
                  </a:moveTo>
                  <a:lnTo>
                    <a:pt x="1675434" y="0"/>
                  </a:lnTo>
                  <a:lnTo>
                    <a:pt x="1472234" y="209938"/>
                  </a:lnTo>
                  <a:lnTo>
                    <a:pt x="0" y="209938"/>
                  </a:lnTo>
                  <a:lnTo>
                    <a:pt x="203200" y="0"/>
                  </a:lnTo>
                  <a:close/>
                </a:path>
              </a:pathLst>
            </a:custGeom>
            <a:solidFill>
              <a:srgbClr val="004AAD"/>
            </a:solidFill>
          </p:spPr>
        </p:sp>
        <p:sp>
          <p:nvSpPr>
            <p:cNvPr name="TextBox 10" id="10"/>
            <p:cNvSpPr txBox="true"/>
            <p:nvPr/>
          </p:nvSpPr>
          <p:spPr>
            <a:xfrm>
              <a:off x="101600" y="-47625"/>
              <a:ext cx="1472234" cy="257563"/>
            </a:xfrm>
            <a:prstGeom prst="rect">
              <a:avLst/>
            </a:prstGeom>
          </p:spPr>
          <p:txBody>
            <a:bodyPr anchor="ctr" rtlCol="false" tIns="50800" lIns="50800" bIns="50800" rIns="50800"/>
            <a:lstStyle/>
            <a:p>
              <a:pPr algn="ctr">
                <a:lnSpc>
                  <a:spcPts val="3639"/>
                </a:lnSpc>
              </a:pPr>
              <a:r>
                <a:rPr lang="en-US" sz="2599">
                  <a:solidFill>
                    <a:srgbClr val="FEFEFE"/>
                  </a:solidFill>
                  <a:latin typeface="Inter"/>
                  <a:ea typeface="Inter"/>
                  <a:cs typeface="Inter"/>
                  <a:sym typeface="Inter"/>
                </a:rPr>
                <a:t>Explicación</a:t>
              </a:r>
            </a:p>
          </p:txBody>
        </p:sp>
      </p:grpSp>
      <p:sp>
        <p:nvSpPr>
          <p:cNvPr name="AutoShape 11" id="11"/>
          <p:cNvSpPr/>
          <p:nvPr/>
        </p:nvSpPr>
        <p:spPr>
          <a:xfrm>
            <a:off x="954161" y="2362621"/>
            <a:ext cx="11274767" cy="0"/>
          </a:xfrm>
          <a:prstGeom prst="line">
            <a:avLst/>
          </a:prstGeom>
          <a:ln cap="flat" w="76200">
            <a:solidFill>
              <a:srgbClr val="004AAD"/>
            </a:solidFill>
            <a:prstDash val="solid"/>
            <a:headEnd type="none" len="sm" w="sm"/>
            <a:tailEnd type="none" len="sm" w="sm"/>
          </a:ln>
        </p:spPr>
      </p:sp>
      <p:sp>
        <p:nvSpPr>
          <p:cNvPr name="Freeform 12" id="12"/>
          <p:cNvSpPr/>
          <p:nvPr/>
        </p:nvSpPr>
        <p:spPr>
          <a:xfrm flipH="false" flipV="false" rot="0">
            <a:off x="954161" y="2600746"/>
            <a:ext cx="9239778" cy="6789310"/>
          </a:xfrm>
          <a:custGeom>
            <a:avLst/>
            <a:gdLst/>
            <a:ahLst/>
            <a:cxnLst/>
            <a:rect r="r" b="b" t="t" l="l"/>
            <a:pathLst>
              <a:path h="6789310" w="9239778">
                <a:moveTo>
                  <a:pt x="0" y="0"/>
                </a:moveTo>
                <a:lnTo>
                  <a:pt x="9239778" y="0"/>
                </a:lnTo>
                <a:lnTo>
                  <a:pt x="9239778" y="6789310"/>
                </a:lnTo>
                <a:lnTo>
                  <a:pt x="0" y="6789310"/>
                </a:lnTo>
                <a:lnTo>
                  <a:pt x="0" y="0"/>
                </a:lnTo>
                <a:close/>
              </a:path>
            </a:pathLst>
          </a:custGeom>
          <a:blipFill>
            <a:blip r:embed="rId2"/>
            <a:stretch>
              <a:fillRect l="0" t="0" r="0" b="0"/>
            </a:stretch>
          </a:blipFill>
        </p:spPr>
      </p:sp>
      <p:sp>
        <p:nvSpPr>
          <p:cNvPr name="TextBox 13" id="13"/>
          <p:cNvSpPr txBox="true"/>
          <p:nvPr/>
        </p:nvSpPr>
        <p:spPr>
          <a:xfrm rot="0">
            <a:off x="3495333" y="1200150"/>
            <a:ext cx="11228800" cy="849951"/>
          </a:xfrm>
          <a:prstGeom prst="rect">
            <a:avLst/>
          </a:prstGeom>
        </p:spPr>
        <p:txBody>
          <a:bodyPr anchor="t" rtlCol="false" tIns="0" lIns="0" bIns="0" rIns="0">
            <a:spAutoFit/>
          </a:bodyPr>
          <a:lstStyle/>
          <a:p>
            <a:pPr algn="ctr">
              <a:lnSpc>
                <a:spcPts val="6260"/>
              </a:lnSpc>
            </a:pPr>
            <a:r>
              <a:rPr lang="en-US" sz="6731" spc="-437">
                <a:solidFill>
                  <a:srgbClr val="004AAD"/>
                </a:solidFill>
                <a:latin typeface="Tomorrow"/>
                <a:ea typeface="Tomorrow"/>
                <a:cs typeface="Tomorrow"/>
                <a:sym typeface="Tomorrow"/>
              </a:rPr>
              <a:t>ARQUITECTURA INTERNA</a:t>
            </a:r>
          </a:p>
        </p:txBody>
      </p:sp>
      <p:sp>
        <p:nvSpPr>
          <p:cNvPr name="TextBox 14" id="14"/>
          <p:cNvSpPr txBox="true"/>
          <p:nvPr/>
        </p:nvSpPr>
        <p:spPr>
          <a:xfrm rot="0">
            <a:off x="10995376" y="4016401"/>
            <a:ext cx="5633690" cy="4421273"/>
          </a:xfrm>
          <a:prstGeom prst="rect">
            <a:avLst/>
          </a:prstGeom>
        </p:spPr>
        <p:txBody>
          <a:bodyPr anchor="t" rtlCol="false" tIns="0" lIns="0" bIns="0" rIns="0">
            <a:spAutoFit/>
          </a:bodyPr>
          <a:lstStyle/>
          <a:p>
            <a:pPr algn="just">
              <a:lnSpc>
                <a:spcPts val="2525"/>
              </a:lnSpc>
              <a:spcBef>
                <a:spcPct val="0"/>
              </a:spcBef>
            </a:pPr>
            <a:r>
              <a:rPr lang="en-US" sz="1803">
                <a:solidFill>
                  <a:srgbClr val="004AAD"/>
                </a:solidFill>
                <a:latin typeface="Poppins"/>
                <a:ea typeface="Poppins"/>
                <a:cs typeface="Poppins"/>
                <a:sym typeface="Poppins"/>
              </a:rPr>
              <a:t>La arquitectura del sistema está compuesta por un sensor DHT11, un ESP32 y tres módulos principales de salida. El sensor mide la temperatura y humedad del ambiente y envía estos datos al ESP32, que se encarga de procesarlos. Posteriormente, la información se distribuye al dashboard, donde se visualizan las mediciones en tiempo real; al sistema de alertas, que notifica cuando los valores superan los límites establecidos; y a la base de datos, donde se almacena el historial de las mediciones. Finalmente, el usuario puede consultar la información y recibir las alertas generadas por el sistema.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162065" cy="8229600"/>
            <a:chOff x="0" y="0"/>
            <a:chExt cx="4256676" cy="2167467"/>
          </a:xfrm>
        </p:grpSpPr>
        <p:sp>
          <p:nvSpPr>
            <p:cNvPr name="Freeform 3" id="3"/>
            <p:cNvSpPr/>
            <p:nvPr/>
          </p:nvSpPr>
          <p:spPr>
            <a:xfrm flipH="false" flipV="false" rot="0">
              <a:off x="0" y="0"/>
              <a:ext cx="4256676" cy="2167467"/>
            </a:xfrm>
            <a:custGeom>
              <a:avLst/>
              <a:gdLst/>
              <a:ahLst/>
              <a:cxnLst/>
              <a:rect r="r" b="b" t="t" l="l"/>
              <a:pathLst>
                <a:path h="2167467" w="4256676">
                  <a:moveTo>
                    <a:pt x="0" y="0"/>
                  </a:moveTo>
                  <a:lnTo>
                    <a:pt x="4256676" y="0"/>
                  </a:lnTo>
                  <a:lnTo>
                    <a:pt x="4256676" y="2167467"/>
                  </a:lnTo>
                  <a:lnTo>
                    <a:pt x="0" y="2167467"/>
                  </a:lnTo>
                  <a:close/>
                </a:path>
              </a:pathLst>
            </a:custGeom>
            <a:ln w="76200" cap="sq">
              <a:solidFill>
                <a:srgbClr val="004AAD"/>
              </a:solidFill>
              <a:prstDash val="solid"/>
              <a:miter/>
            </a:ln>
          </p:spPr>
        </p:sp>
        <p:sp>
          <p:nvSpPr>
            <p:cNvPr name="TextBox 4" id="4"/>
            <p:cNvSpPr txBox="true"/>
            <p:nvPr/>
          </p:nvSpPr>
          <p:spPr>
            <a:xfrm>
              <a:off x="0" y="-66675"/>
              <a:ext cx="4256676" cy="2234142"/>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9667759" y="1028700"/>
            <a:ext cx="7523006" cy="8229600"/>
            <a:chOff x="0" y="0"/>
            <a:chExt cx="1981368" cy="2167467"/>
          </a:xfrm>
        </p:grpSpPr>
        <p:sp>
          <p:nvSpPr>
            <p:cNvPr name="Freeform 6" id="6"/>
            <p:cNvSpPr/>
            <p:nvPr/>
          </p:nvSpPr>
          <p:spPr>
            <a:xfrm flipH="false" flipV="false" rot="0">
              <a:off x="0" y="0"/>
              <a:ext cx="1981368" cy="2167467"/>
            </a:xfrm>
            <a:custGeom>
              <a:avLst/>
              <a:gdLst/>
              <a:ahLst/>
              <a:cxnLst/>
              <a:rect r="r" b="b" t="t" l="l"/>
              <a:pathLst>
                <a:path h="2167467" w="1981368">
                  <a:moveTo>
                    <a:pt x="0" y="0"/>
                  </a:moveTo>
                  <a:lnTo>
                    <a:pt x="1981368" y="0"/>
                  </a:lnTo>
                  <a:lnTo>
                    <a:pt x="1981368" y="2167467"/>
                  </a:lnTo>
                  <a:lnTo>
                    <a:pt x="0" y="2167467"/>
                  </a:lnTo>
                  <a:close/>
                </a:path>
              </a:pathLst>
            </a:custGeom>
            <a:ln w="76200" cap="sq">
              <a:solidFill>
                <a:srgbClr val="004AAD"/>
              </a:solidFill>
              <a:prstDash val="solid"/>
              <a:miter/>
            </a:ln>
          </p:spPr>
        </p:sp>
        <p:sp>
          <p:nvSpPr>
            <p:cNvPr name="TextBox 7" id="7"/>
            <p:cNvSpPr txBox="true"/>
            <p:nvPr/>
          </p:nvSpPr>
          <p:spPr>
            <a:xfrm>
              <a:off x="0" y="-66675"/>
              <a:ext cx="1981368" cy="2234142"/>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1448198" y="4097824"/>
            <a:ext cx="7606723" cy="797110"/>
            <a:chOff x="0" y="0"/>
            <a:chExt cx="2003417" cy="209938"/>
          </a:xfrm>
        </p:grpSpPr>
        <p:sp>
          <p:nvSpPr>
            <p:cNvPr name="Freeform 9" id="9"/>
            <p:cNvSpPr/>
            <p:nvPr/>
          </p:nvSpPr>
          <p:spPr>
            <a:xfrm flipH="false" flipV="false" rot="0">
              <a:off x="0" y="0"/>
              <a:ext cx="2003417" cy="209938"/>
            </a:xfrm>
            <a:custGeom>
              <a:avLst/>
              <a:gdLst/>
              <a:ahLst/>
              <a:cxnLst/>
              <a:rect r="r" b="b" t="t" l="l"/>
              <a:pathLst>
                <a:path h="209938" w="2003417">
                  <a:moveTo>
                    <a:pt x="203200" y="0"/>
                  </a:moveTo>
                  <a:lnTo>
                    <a:pt x="2003417" y="0"/>
                  </a:lnTo>
                  <a:lnTo>
                    <a:pt x="1800217" y="209938"/>
                  </a:lnTo>
                  <a:lnTo>
                    <a:pt x="0" y="209938"/>
                  </a:lnTo>
                  <a:lnTo>
                    <a:pt x="203200" y="0"/>
                  </a:lnTo>
                  <a:close/>
                </a:path>
              </a:pathLst>
            </a:custGeom>
            <a:solidFill>
              <a:srgbClr val="004AAD"/>
            </a:solidFill>
          </p:spPr>
        </p:sp>
        <p:sp>
          <p:nvSpPr>
            <p:cNvPr name="TextBox 10" id="10"/>
            <p:cNvSpPr txBox="true"/>
            <p:nvPr/>
          </p:nvSpPr>
          <p:spPr>
            <a:xfrm>
              <a:off x="101600" y="-47625"/>
              <a:ext cx="1800217" cy="257563"/>
            </a:xfrm>
            <a:prstGeom prst="rect">
              <a:avLst/>
            </a:prstGeom>
          </p:spPr>
          <p:txBody>
            <a:bodyPr anchor="ctr" rtlCol="false" tIns="50800" lIns="50800" bIns="50800" rIns="50800"/>
            <a:lstStyle/>
            <a:p>
              <a:pPr algn="ctr">
                <a:lnSpc>
                  <a:spcPts val="3639"/>
                </a:lnSpc>
              </a:pPr>
              <a:r>
                <a:rPr lang="en-US" sz="2599">
                  <a:solidFill>
                    <a:srgbClr val="FEFEFE"/>
                  </a:solidFill>
                  <a:latin typeface="Inter"/>
                  <a:ea typeface="Inter"/>
                  <a:cs typeface="Inter"/>
                  <a:sym typeface="Inter"/>
                </a:rPr>
                <a:t>Explicación</a:t>
              </a:r>
            </a:p>
          </p:txBody>
        </p:sp>
      </p:grpSp>
      <p:sp>
        <p:nvSpPr>
          <p:cNvPr name="Freeform 11" id="11"/>
          <p:cNvSpPr/>
          <p:nvPr/>
        </p:nvSpPr>
        <p:spPr>
          <a:xfrm flipH="false" flipV="false" rot="0">
            <a:off x="10227539" y="1142773"/>
            <a:ext cx="6403447" cy="8001455"/>
          </a:xfrm>
          <a:custGeom>
            <a:avLst/>
            <a:gdLst/>
            <a:ahLst/>
            <a:cxnLst/>
            <a:rect r="r" b="b" t="t" l="l"/>
            <a:pathLst>
              <a:path h="8001455" w="6403447">
                <a:moveTo>
                  <a:pt x="0" y="0"/>
                </a:moveTo>
                <a:lnTo>
                  <a:pt x="6403447" y="0"/>
                </a:lnTo>
                <a:lnTo>
                  <a:pt x="6403447" y="8001454"/>
                </a:lnTo>
                <a:lnTo>
                  <a:pt x="0" y="8001454"/>
                </a:lnTo>
                <a:lnTo>
                  <a:pt x="0" y="0"/>
                </a:lnTo>
                <a:close/>
              </a:path>
            </a:pathLst>
          </a:custGeom>
          <a:blipFill>
            <a:blip r:embed="rId2"/>
            <a:stretch>
              <a:fillRect l="0" t="0" r="0" b="0"/>
            </a:stretch>
          </a:blipFill>
        </p:spPr>
      </p:sp>
      <p:sp>
        <p:nvSpPr>
          <p:cNvPr name="TextBox 12" id="12"/>
          <p:cNvSpPr txBox="true"/>
          <p:nvPr/>
        </p:nvSpPr>
        <p:spPr>
          <a:xfrm rot="0">
            <a:off x="1789396" y="2033792"/>
            <a:ext cx="6924326" cy="1640526"/>
          </a:xfrm>
          <a:prstGeom prst="rect">
            <a:avLst/>
          </a:prstGeom>
        </p:spPr>
        <p:txBody>
          <a:bodyPr anchor="t" rtlCol="false" tIns="0" lIns="0" bIns="0" rIns="0">
            <a:spAutoFit/>
          </a:bodyPr>
          <a:lstStyle/>
          <a:p>
            <a:pPr algn="l">
              <a:lnSpc>
                <a:spcPts val="6260"/>
              </a:lnSpc>
            </a:pPr>
            <a:r>
              <a:rPr lang="en-US" sz="6731" spc="-437">
                <a:solidFill>
                  <a:srgbClr val="004AAD"/>
                </a:solidFill>
                <a:latin typeface="Tomorrow"/>
                <a:ea typeface="Tomorrow"/>
                <a:cs typeface="Tomorrow"/>
                <a:sym typeface="Tomorrow"/>
              </a:rPr>
              <a:t>FLUJO DE FUNCIO</a:t>
            </a:r>
            <a:r>
              <a:rPr lang="en-US" sz="6731" spc="-437">
                <a:solidFill>
                  <a:srgbClr val="004AAD"/>
                </a:solidFill>
                <a:latin typeface="Tomorrow"/>
                <a:ea typeface="Tomorrow"/>
                <a:cs typeface="Tomorrow"/>
                <a:sym typeface="Tomorrow"/>
              </a:rPr>
              <a:t>NAMIENTO</a:t>
            </a:r>
          </a:p>
        </p:txBody>
      </p:sp>
      <p:sp>
        <p:nvSpPr>
          <p:cNvPr name="TextBox 13" id="13"/>
          <p:cNvSpPr txBox="true"/>
          <p:nvPr/>
        </p:nvSpPr>
        <p:spPr>
          <a:xfrm rot="0">
            <a:off x="1503010" y="5256883"/>
            <a:ext cx="7606723" cy="2840355"/>
          </a:xfrm>
          <a:prstGeom prst="rect">
            <a:avLst/>
          </a:prstGeom>
        </p:spPr>
        <p:txBody>
          <a:bodyPr anchor="t" rtlCol="false" tIns="0" lIns="0" bIns="0" rIns="0">
            <a:spAutoFit/>
          </a:bodyPr>
          <a:lstStyle/>
          <a:p>
            <a:pPr algn="just">
              <a:lnSpc>
                <a:spcPts val="2520"/>
              </a:lnSpc>
              <a:spcBef>
                <a:spcPct val="0"/>
              </a:spcBef>
            </a:pPr>
            <a:r>
              <a:rPr lang="en-US" sz="1800">
                <a:solidFill>
                  <a:srgbClr val="004AAD"/>
                </a:solidFill>
                <a:latin typeface="Poppins"/>
                <a:ea typeface="Poppins"/>
                <a:cs typeface="Poppins"/>
                <a:sym typeface="Poppins"/>
              </a:rPr>
              <a:t>El</a:t>
            </a:r>
            <a:r>
              <a:rPr lang="en-US" sz="1800">
                <a:solidFill>
                  <a:srgbClr val="004AAD"/>
                </a:solidFill>
                <a:latin typeface="Poppins"/>
                <a:ea typeface="Poppins"/>
                <a:cs typeface="Poppins"/>
                <a:sym typeface="Poppins"/>
              </a:rPr>
              <a:t> funcionamiento del sistema inicia cuando el sensor DHT11 mide la temperatura y la humedad del ambiente. Estas mediciones son enviadas al ESP32, que procesa la información y actualiza el dashboard para mostrar los datos en tiempo real. Luego, el sistema verifica si la temperatura se encuentra fuera del rango establecido. Si detecta una condición anormal, registra una alerta y envía una notificación al usuario. En caso contrario, el sistema continúa monitoreando el ambiente de forma continua, repitiendo el proceso para mantener una supervisión constante.</a:t>
            </a:r>
          </a:p>
        </p:txBody>
      </p:sp>
      <p:sp>
        <p:nvSpPr>
          <p:cNvPr name="Freeform 14" id="14"/>
          <p:cNvSpPr/>
          <p:nvPr/>
        </p:nvSpPr>
        <p:spPr>
          <a:xfrm flipH="true" flipV="true" rot="0">
            <a:off x="9667759" y="6705636"/>
            <a:ext cx="2418069" cy="2552664"/>
          </a:xfrm>
          <a:custGeom>
            <a:avLst/>
            <a:gdLst/>
            <a:ahLst/>
            <a:cxnLst/>
            <a:rect r="r" b="b" t="t" l="l"/>
            <a:pathLst>
              <a:path h="2552664" w="2418069">
                <a:moveTo>
                  <a:pt x="2418069" y="2552664"/>
                </a:moveTo>
                <a:lnTo>
                  <a:pt x="0" y="2552664"/>
                </a:lnTo>
                <a:lnTo>
                  <a:pt x="0" y="0"/>
                </a:lnTo>
                <a:lnTo>
                  <a:pt x="2418069" y="0"/>
                </a:lnTo>
                <a:lnTo>
                  <a:pt x="2418069" y="255266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14440979" y="1028700"/>
            <a:ext cx="2749786" cy="2902845"/>
          </a:xfrm>
          <a:custGeom>
            <a:avLst/>
            <a:gdLst/>
            <a:ahLst/>
            <a:cxnLst/>
            <a:rect r="r" b="b" t="t" l="l"/>
            <a:pathLst>
              <a:path h="2902845" w="2749786">
                <a:moveTo>
                  <a:pt x="0" y="0"/>
                </a:moveTo>
                <a:lnTo>
                  <a:pt x="2749786" y="0"/>
                </a:lnTo>
                <a:lnTo>
                  <a:pt x="2749786" y="2902845"/>
                </a:lnTo>
                <a:lnTo>
                  <a:pt x="0" y="29028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ln w="76200" cap="sq">
              <a:solidFill>
                <a:srgbClr val="004AAD"/>
              </a:solidFill>
              <a:prstDash val="solid"/>
              <a:miter/>
            </a:ln>
          </p:spPr>
        </p:sp>
        <p:sp>
          <p:nvSpPr>
            <p:cNvPr name="TextBox 4" id="4"/>
            <p:cNvSpPr txBox="true"/>
            <p:nvPr/>
          </p:nvSpPr>
          <p:spPr>
            <a:xfrm>
              <a:off x="0" y="-66675"/>
              <a:ext cx="4274726" cy="2234142"/>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3361462" y="1028700"/>
            <a:ext cx="3897838" cy="4114800"/>
          </a:xfrm>
          <a:custGeom>
            <a:avLst/>
            <a:gdLst/>
            <a:ahLst/>
            <a:cxnLst/>
            <a:rect r="r" b="b" t="t" l="l"/>
            <a:pathLst>
              <a:path h="4114800" w="3897838">
                <a:moveTo>
                  <a:pt x="0" y="0"/>
                </a:moveTo>
                <a:lnTo>
                  <a:pt x="3897838" y="0"/>
                </a:lnTo>
                <a:lnTo>
                  <a:pt x="389783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028700" y="5143500"/>
            <a:ext cx="3897838" cy="4114800"/>
          </a:xfrm>
          <a:custGeom>
            <a:avLst/>
            <a:gdLst/>
            <a:ahLst/>
            <a:cxnLst/>
            <a:rect r="r" b="b" t="t" l="l"/>
            <a:pathLst>
              <a:path h="4114800" w="3897838">
                <a:moveTo>
                  <a:pt x="3897838" y="4114800"/>
                </a:moveTo>
                <a:lnTo>
                  <a:pt x="0" y="4114800"/>
                </a:lnTo>
                <a:lnTo>
                  <a:pt x="0" y="0"/>
                </a:lnTo>
                <a:lnTo>
                  <a:pt x="3897838" y="0"/>
                </a:lnTo>
                <a:lnTo>
                  <a:pt x="389783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385853" y="460665"/>
            <a:ext cx="17516294" cy="9365669"/>
            <a:chOff x="0" y="0"/>
            <a:chExt cx="4613345" cy="2466678"/>
          </a:xfrm>
        </p:grpSpPr>
        <p:sp>
          <p:nvSpPr>
            <p:cNvPr name="Freeform 8" id="8"/>
            <p:cNvSpPr/>
            <p:nvPr/>
          </p:nvSpPr>
          <p:spPr>
            <a:xfrm flipH="false" flipV="false" rot="0">
              <a:off x="0" y="0"/>
              <a:ext cx="4613345" cy="2466678"/>
            </a:xfrm>
            <a:custGeom>
              <a:avLst/>
              <a:gdLst/>
              <a:ahLst/>
              <a:cxnLst/>
              <a:rect r="r" b="b" t="t" l="l"/>
              <a:pathLst>
                <a:path h="2466678" w="4613345">
                  <a:moveTo>
                    <a:pt x="0" y="0"/>
                  </a:moveTo>
                  <a:lnTo>
                    <a:pt x="4613345" y="0"/>
                  </a:lnTo>
                  <a:lnTo>
                    <a:pt x="4613345" y="2466678"/>
                  </a:lnTo>
                  <a:lnTo>
                    <a:pt x="0" y="2466678"/>
                  </a:lnTo>
                  <a:close/>
                </a:path>
              </a:pathLst>
            </a:custGeom>
            <a:ln w="66675" cap="sq">
              <a:solidFill>
                <a:srgbClr val="004AAD"/>
              </a:solidFill>
              <a:prstDash val="solid"/>
              <a:miter/>
            </a:ln>
          </p:spPr>
        </p:sp>
        <p:sp>
          <p:nvSpPr>
            <p:cNvPr name="TextBox 9" id="9"/>
            <p:cNvSpPr txBox="true"/>
            <p:nvPr/>
          </p:nvSpPr>
          <p:spPr>
            <a:xfrm>
              <a:off x="0" y="-66675"/>
              <a:ext cx="4613345" cy="2533353"/>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905425" y="4302310"/>
            <a:ext cx="14477150" cy="2101481"/>
          </a:xfrm>
          <a:prstGeom prst="rect">
            <a:avLst/>
          </a:prstGeom>
        </p:spPr>
        <p:txBody>
          <a:bodyPr anchor="t" rtlCol="false" tIns="0" lIns="0" bIns="0" rIns="0">
            <a:spAutoFit/>
          </a:bodyPr>
          <a:lstStyle/>
          <a:p>
            <a:pPr algn="ctr">
              <a:lnSpc>
                <a:spcPts val="15403"/>
              </a:lnSpc>
            </a:pPr>
            <a:r>
              <a:rPr lang="en-US" b="true" sz="16563" spc="-1076">
                <a:solidFill>
                  <a:srgbClr val="004AAD"/>
                </a:solidFill>
                <a:latin typeface="Tomorrow Bold"/>
                <a:ea typeface="Tomorrow Bold"/>
                <a:cs typeface="Tomorrow Bold"/>
                <a:sym typeface="Tomorrow Bold"/>
              </a:rPr>
              <a:t>PAGINA WEB</a:t>
            </a:r>
          </a:p>
        </p:txBody>
      </p:sp>
      <p:grpSp>
        <p:nvGrpSpPr>
          <p:cNvPr name="Group 11" id="11"/>
          <p:cNvGrpSpPr/>
          <p:nvPr/>
        </p:nvGrpSpPr>
        <p:grpSpPr>
          <a:xfrm rot="0">
            <a:off x="2124253" y="3280074"/>
            <a:ext cx="4322162" cy="797110"/>
            <a:chOff x="0" y="0"/>
            <a:chExt cx="1138347" cy="209938"/>
          </a:xfrm>
        </p:grpSpPr>
        <p:sp>
          <p:nvSpPr>
            <p:cNvPr name="Freeform 12" id="12"/>
            <p:cNvSpPr/>
            <p:nvPr/>
          </p:nvSpPr>
          <p:spPr>
            <a:xfrm flipH="false" flipV="false" rot="0">
              <a:off x="0" y="0"/>
              <a:ext cx="1138347" cy="209938"/>
            </a:xfrm>
            <a:custGeom>
              <a:avLst/>
              <a:gdLst/>
              <a:ahLst/>
              <a:cxnLst/>
              <a:rect r="r" b="b" t="t" l="l"/>
              <a:pathLst>
                <a:path h="209938" w="1138347">
                  <a:moveTo>
                    <a:pt x="203200" y="0"/>
                  </a:moveTo>
                  <a:lnTo>
                    <a:pt x="1138347" y="0"/>
                  </a:lnTo>
                  <a:lnTo>
                    <a:pt x="935147" y="209938"/>
                  </a:lnTo>
                  <a:lnTo>
                    <a:pt x="0" y="209938"/>
                  </a:lnTo>
                  <a:lnTo>
                    <a:pt x="203200" y="0"/>
                  </a:lnTo>
                  <a:close/>
                </a:path>
              </a:pathLst>
            </a:custGeom>
            <a:solidFill>
              <a:srgbClr val="004AAD"/>
            </a:solidFill>
          </p:spPr>
        </p:sp>
        <p:sp>
          <p:nvSpPr>
            <p:cNvPr name="TextBox 13" id="13"/>
            <p:cNvSpPr txBox="true"/>
            <p:nvPr/>
          </p:nvSpPr>
          <p:spPr>
            <a:xfrm>
              <a:off x="101600" y="-47625"/>
              <a:ext cx="935147" cy="257563"/>
            </a:xfrm>
            <a:prstGeom prst="rect">
              <a:avLst/>
            </a:prstGeom>
          </p:spPr>
          <p:txBody>
            <a:bodyPr anchor="ctr" rtlCol="false" tIns="50800" lIns="50800" bIns="50800" rIns="50800"/>
            <a:lstStyle/>
            <a:p>
              <a:pPr algn="ctr">
                <a:lnSpc>
                  <a:spcPts val="3639"/>
                </a:lnSpc>
              </a:pPr>
              <a:r>
                <a:rPr lang="en-US" sz="2599">
                  <a:solidFill>
                    <a:srgbClr val="FEFEFE"/>
                  </a:solidFill>
                  <a:latin typeface="Inter"/>
                  <a:ea typeface="Inter"/>
                  <a:cs typeface="Inter"/>
                  <a:sym typeface="Inter"/>
                </a:rPr>
                <a:t>Thynk Unlimited</a:t>
              </a:r>
            </a:p>
          </p:txBody>
        </p:sp>
      </p:grpSp>
      <p:grpSp>
        <p:nvGrpSpPr>
          <p:cNvPr name="Group 14" id="14"/>
          <p:cNvGrpSpPr/>
          <p:nvPr/>
        </p:nvGrpSpPr>
        <p:grpSpPr>
          <a:xfrm rot="0">
            <a:off x="9525330" y="6403790"/>
            <a:ext cx="6484419" cy="797110"/>
            <a:chOff x="0" y="0"/>
            <a:chExt cx="1707831" cy="209938"/>
          </a:xfrm>
        </p:grpSpPr>
        <p:sp>
          <p:nvSpPr>
            <p:cNvPr name="Freeform 15" id="15"/>
            <p:cNvSpPr/>
            <p:nvPr/>
          </p:nvSpPr>
          <p:spPr>
            <a:xfrm flipH="false" flipV="false" rot="0">
              <a:off x="0" y="0"/>
              <a:ext cx="1707831" cy="209938"/>
            </a:xfrm>
            <a:custGeom>
              <a:avLst/>
              <a:gdLst/>
              <a:ahLst/>
              <a:cxnLst/>
              <a:rect r="r" b="b" t="t" l="l"/>
              <a:pathLst>
                <a:path h="209938" w="1707831">
                  <a:moveTo>
                    <a:pt x="203200" y="0"/>
                  </a:moveTo>
                  <a:lnTo>
                    <a:pt x="1707831" y="0"/>
                  </a:lnTo>
                  <a:lnTo>
                    <a:pt x="1504631" y="209938"/>
                  </a:lnTo>
                  <a:lnTo>
                    <a:pt x="0" y="209938"/>
                  </a:lnTo>
                  <a:lnTo>
                    <a:pt x="203200" y="0"/>
                  </a:lnTo>
                  <a:close/>
                </a:path>
              </a:pathLst>
            </a:custGeom>
            <a:solidFill>
              <a:srgbClr val="004AAD"/>
            </a:solidFill>
          </p:spPr>
        </p:sp>
        <p:sp>
          <p:nvSpPr>
            <p:cNvPr name="TextBox 16" id="16"/>
            <p:cNvSpPr txBox="true"/>
            <p:nvPr/>
          </p:nvSpPr>
          <p:spPr>
            <a:xfrm>
              <a:off x="101600" y="-47625"/>
              <a:ext cx="1504631" cy="257563"/>
            </a:xfrm>
            <a:prstGeom prst="rect">
              <a:avLst/>
            </a:prstGeom>
          </p:spPr>
          <p:txBody>
            <a:bodyPr anchor="ctr" rtlCol="false" tIns="50800" lIns="50800" bIns="50800" rIns="50800"/>
            <a:lstStyle/>
            <a:p>
              <a:pPr algn="ctr">
                <a:lnSpc>
                  <a:spcPts val="3639"/>
                </a:lnSpc>
              </a:pPr>
              <a:r>
                <a:rPr lang="en-US" sz="2599">
                  <a:solidFill>
                    <a:srgbClr val="FEFEFE"/>
                  </a:solidFill>
                  <a:latin typeface="Inter"/>
                  <a:ea typeface="Inter"/>
                  <a:cs typeface="Inter"/>
                  <a:sym typeface="Inter"/>
                </a:rPr>
                <a:t>.................................................</a:t>
              </a:r>
            </a:p>
          </p:txBody>
        </p:sp>
      </p:grpSp>
      <p:grpSp>
        <p:nvGrpSpPr>
          <p:cNvPr name="Group 17" id="17"/>
          <p:cNvGrpSpPr/>
          <p:nvPr/>
        </p:nvGrpSpPr>
        <p:grpSpPr>
          <a:xfrm rot="0">
            <a:off x="14230708" y="3576106"/>
            <a:ext cx="1478228" cy="398555"/>
            <a:chOff x="0" y="0"/>
            <a:chExt cx="1970971" cy="531406"/>
          </a:xfrm>
        </p:grpSpPr>
        <p:grpSp>
          <p:nvGrpSpPr>
            <p:cNvPr name="Group 18" id="18"/>
            <p:cNvGrpSpPr/>
            <p:nvPr/>
          </p:nvGrpSpPr>
          <p:grpSpPr>
            <a:xfrm rot="0">
              <a:off x="1439565" y="0"/>
              <a:ext cx="531406" cy="53140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0" id="20"/>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721906" y="0"/>
              <a:ext cx="531406" cy="53140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3" id="23"/>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0" y="0"/>
              <a:ext cx="531406" cy="53140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6" id="26"/>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grpSp>
        <p:nvGrpSpPr>
          <p:cNvPr name="Group 27" id="27"/>
          <p:cNvGrpSpPr/>
          <p:nvPr/>
        </p:nvGrpSpPr>
        <p:grpSpPr>
          <a:xfrm rot="0">
            <a:off x="2389228" y="6603068"/>
            <a:ext cx="1478228" cy="398555"/>
            <a:chOff x="0" y="0"/>
            <a:chExt cx="1970971" cy="531406"/>
          </a:xfrm>
        </p:grpSpPr>
        <p:grpSp>
          <p:nvGrpSpPr>
            <p:cNvPr name="Group 28" id="28"/>
            <p:cNvGrpSpPr/>
            <p:nvPr/>
          </p:nvGrpSpPr>
          <p:grpSpPr>
            <a:xfrm rot="0">
              <a:off x="1439565" y="0"/>
              <a:ext cx="531406" cy="53140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0" id="30"/>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31" id="31"/>
            <p:cNvGrpSpPr/>
            <p:nvPr/>
          </p:nvGrpSpPr>
          <p:grpSpPr>
            <a:xfrm rot="0">
              <a:off x="721906" y="0"/>
              <a:ext cx="531406" cy="531406"/>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3" id="33"/>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34" id="34"/>
            <p:cNvGrpSpPr/>
            <p:nvPr/>
          </p:nvGrpSpPr>
          <p:grpSpPr>
            <a:xfrm rot="0">
              <a:off x="0" y="0"/>
              <a:ext cx="531406" cy="53140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6" id="36"/>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162065" cy="8229600"/>
            <a:chOff x="0" y="0"/>
            <a:chExt cx="4256676" cy="2167467"/>
          </a:xfrm>
        </p:grpSpPr>
        <p:sp>
          <p:nvSpPr>
            <p:cNvPr name="Freeform 3" id="3"/>
            <p:cNvSpPr/>
            <p:nvPr/>
          </p:nvSpPr>
          <p:spPr>
            <a:xfrm flipH="false" flipV="false" rot="0">
              <a:off x="0" y="0"/>
              <a:ext cx="4256676" cy="2167467"/>
            </a:xfrm>
            <a:custGeom>
              <a:avLst/>
              <a:gdLst/>
              <a:ahLst/>
              <a:cxnLst/>
              <a:rect r="r" b="b" t="t" l="l"/>
              <a:pathLst>
                <a:path h="2167467" w="4256676">
                  <a:moveTo>
                    <a:pt x="0" y="0"/>
                  </a:moveTo>
                  <a:lnTo>
                    <a:pt x="4256676" y="0"/>
                  </a:lnTo>
                  <a:lnTo>
                    <a:pt x="4256676" y="2167467"/>
                  </a:lnTo>
                  <a:lnTo>
                    <a:pt x="0" y="2167467"/>
                  </a:lnTo>
                  <a:close/>
                </a:path>
              </a:pathLst>
            </a:custGeom>
            <a:ln w="76200" cap="sq">
              <a:solidFill>
                <a:srgbClr val="004AAD"/>
              </a:solidFill>
              <a:prstDash val="solid"/>
              <a:miter/>
            </a:ln>
          </p:spPr>
        </p:sp>
        <p:sp>
          <p:nvSpPr>
            <p:cNvPr name="TextBox 4" id="4"/>
            <p:cNvSpPr txBox="true"/>
            <p:nvPr/>
          </p:nvSpPr>
          <p:spPr>
            <a:xfrm>
              <a:off x="0" y="-66675"/>
              <a:ext cx="4256676" cy="2234142"/>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3361462" y="1028700"/>
            <a:ext cx="3897838" cy="4114800"/>
          </a:xfrm>
          <a:custGeom>
            <a:avLst/>
            <a:gdLst/>
            <a:ahLst/>
            <a:cxnLst/>
            <a:rect r="r" b="b" t="t" l="l"/>
            <a:pathLst>
              <a:path h="4114800" w="3897838">
                <a:moveTo>
                  <a:pt x="0" y="0"/>
                </a:moveTo>
                <a:lnTo>
                  <a:pt x="3897838" y="0"/>
                </a:lnTo>
                <a:lnTo>
                  <a:pt x="389783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028700" y="5145533"/>
            <a:ext cx="3897838" cy="4114800"/>
          </a:xfrm>
          <a:custGeom>
            <a:avLst/>
            <a:gdLst/>
            <a:ahLst/>
            <a:cxnLst/>
            <a:rect r="r" b="b" t="t" l="l"/>
            <a:pathLst>
              <a:path h="4114800" w="3897838">
                <a:moveTo>
                  <a:pt x="3897838" y="4114800"/>
                </a:moveTo>
                <a:lnTo>
                  <a:pt x="0" y="4114800"/>
                </a:lnTo>
                <a:lnTo>
                  <a:pt x="0" y="0"/>
                </a:lnTo>
                <a:lnTo>
                  <a:pt x="3897838" y="0"/>
                </a:lnTo>
                <a:lnTo>
                  <a:pt x="389783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28700" y="1028700"/>
            <a:ext cx="16162065" cy="8262856"/>
          </a:xfrm>
          <a:custGeom>
            <a:avLst/>
            <a:gdLst/>
            <a:ahLst/>
            <a:cxnLst/>
            <a:rect r="r" b="b" t="t" l="l"/>
            <a:pathLst>
              <a:path h="8262856" w="16162065">
                <a:moveTo>
                  <a:pt x="0" y="0"/>
                </a:moveTo>
                <a:lnTo>
                  <a:pt x="16162065" y="0"/>
                </a:lnTo>
                <a:lnTo>
                  <a:pt x="16162065" y="8262856"/>
                </a:lnTo>
                <a:lnTo>
                  <a:pt x="0" y="8262856"/>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6162065" cy="8229600"/>
            <a:chOff x="0" y="0"/>
            <a:chExt cx="4256676" cy="2167467"/>
          </a:xfrm>
        </p:grpSpPr>
        <p:sp>
          <p:nvSpPr>
            <p:cNvPr name="Freeform 3" id="3"/>
            <p:cNvSpPr/>
            <p:nvPr/>
          </p:nvSpPr>
          <p:spPr>
            <a:xfrm flipH="false" flipV="false" rot="0">
              <a:off x="0" y="0"/>
              <a:ext cx="4256676" cy="2167467"/>
            </a:xfrm>
            <a:custGeom>
              <a:avLst/>
              <a:gdLst/>
              <a:ahLst/>
              <a:cxnLst/>
              <a:rect r="r" b="b" t="t" l="l"/>
              <a:pathLst>
                <a:path h="2167467" w="4256676">
                  <a:moveTo>
                    <a:pt x="0" y="0"/>
                  </a:moveTo>
                  <a:lnTo>
                    <a:pt x="4256676" y="0"/>
                  </a:lnTo>
                  <a:lnTo>
                    <a:pt x="4256676" y="2167467"/>
                  </a:lnTo>
                  <a:lnTo>
                    <a:pt x="0" y="2167467"/>
                  </a:lnTo>
                  <a:close/>
                </a:path>
              </a:pathLst>
            </a:custGeom>
            <a:ln w="76200" cap="sq">
              <a:solidFill>
                <a:srgbClr val="004AAD"/>
              </a:solidFill>
              <a:prstDash val="solid"/>
              <a:miter/>
            </a:ln>
          </p:spPr>
        </p:sp>
        <p:sp>
          <p:nvSpPr>
            <p:cNvPr name="TextBox 4" id="4"/>
            <p:cNvSpPr txBox="true"/>
            <p:nvPr/>
          </p:nvSpPr>
          <p:spPr>
            <a:xfrm>
              <a:off x="0" y="-66675"/>
              <a:ext cx="4256676" cy="2234142"/>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3292928" y="1028700"/>
            <a:ext cx="3897838" cy="4114800"/>
          </a:xfrm>
          <a:custGeom>
            <a:avLst/>
            <a:gdLst/>
            <a:ahLst/>
            <a:cxnLst/>
            <a:rect r="r" b="b" t="t" l="l"/>
            <a:pathLst>
              <a:path h="4114800" w="3897838">
                <a:moveTo>
                  <a:pt x="0" y="0"/>
                </a:moveTo>
                <a:lnTo>
                  <a:pt x="3897837" y="0"/>
                </a:lnTo>
                <a:lnTo>
                  <a:pt x="389783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028700" y="5145533"/>
            <a:ext cx="3897838" cy="4114800"/>
          </a:xfrm>
          <a:custGeom>
            <a:avLst/>
            <a:gdLst/>
            <a:ahLst/>
            <a:cxnLst/>
            <a:rect r="r" b="b" t="t" l="l"/>
            <a:pathLst>
              <a:path h="4114800" w="3897838">
                <a:moveTo>
                  <a:pt x="3897838" y="4114800"/>
                </a:moveTo>
                <a:lnTo>
                  <a:pt x="0" y="4114800"/>
                </a:lnTo>
                <a:lnTo>
                  <a:pt x="0" y="0"/>
                </a:lnTo>
                <a:lnTo>
                  <a:pt x="3897838" y="0"/>
                </a:lnTo>
                <a:lnTo>
                  <a:pt x="389783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0530544" y="1028700"/>
            <a:ext cx="6660221" cy="8229600"/>
            <a:chOff x="0" y="0"/>
            <a:chExt cx="1754132" cy="2167467"/>
          </a:xfrm>
        </p:grpSpPr>
        <p:sp>
          <p:nvSpPr>
            <p:cNvPr name="Freeform 8" id="8"/>
            <p:cNvSpPr/>
            <p:nvPr/>
          </p:nvSpPr>
          <p:spPr>
            <a:xfrm flipH="false" flipV="false" rot="0">
              <a:off x="0" y="0"/>
              <a:ext cx="1754132" cy="2167467"/>
            </a:xfrm>
            <a:custGeom>
              <a:avLst/>
              <a:gdLst/>
              <a:ahLst/>
              <a:cxnLst/>
              <a:rect r="r" b="b" t="t" l="l"/>
              <a:pathLst>
                <a:path h="2167467" w="1754132">
                  <a:moveTo>
                    <a:pt x="0" y="0"/>
                  </a:moveTo>
                  <a:lnTo>
                    <a:pt x="1754132" y="0"/>
                  </a:lnTo>
                  <a:lnTo>
                    <a:pt x="1754132" y="2167467"/>
                  </a:lnTo>
                  <a:lnTo>
                    <a:pt x="0" y="2167467"/>
                  </a:lnTo>
                  <a:close/>
                </a:path>
              </a:pathLst>
            </a:custGeom>
            <a:ln w="76200" cap="sq">
              <a:solidFill>
                <a:srgbClr val="004AAD"/>
              </a:solidFill>
              <a:prstDash val="solid"/>
              <a:miter/>
            </a:ln>
          </p:spPr>
        </p:sp>
        <p:sp>
          <p:nvSpPr>
            <p:cNvPr name="TextBox 9" id="9"/>
            <p:cNvSpPr txBox="true"/>
            <p:nvPr/>
          </p:nvSpPr>
          <p:spPr>
            <a:xfrm>
              <a:off x="0" y="-66675"/>
              <a:ext cx="1754132" cy="2234142"/>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0">
            <a:off x="2309294" y="2205375"/>
            <a:ext cx="7624166" cy="5880316"/>
          </a:xfrm>
          <a:custGeom>
            <a:avLst/>
            <a:gdLst/>
            <a:ahLst/>
            <a:cxnLst/>
            <a:rect r="r" b="b" t="t" l="l"/>
            <a:pathLst>
              <a:path h="5880316" w="7624166">
                <a:moveTo>
                  <a:pt x="0" y="0"/>
                </a:moveTo>
                <a:lnTo>
                  <a:pt x="7624166" y="0"/>
                </a:lnTo>
                <a:lnTo>
                  <a:pt x="7624166" y="5880316"/>
                </a:lnTo>
                <a:lnTo>
                  <a:pt x="0" y="5880316"/>
                </a:lnTo>
                <a:lnTo>
                  <a:pt x="0" y="0"/>
                </a:lnTo>
                <a:close/>
              </a:path>
            </a:pathLst>
          </a:custGeom>
          <a:blipFill>
            <a:blip r:embed="rId4"/>
            <a:stretch>
              <a:fillRect l="-197" t="0" r="-197" b="0"/>
            </a:stretch>
          </a:blipFill>
        </p:spPr>
      </p:sp>
      <p:grpSp>
        <p:nvGrpSpPr>
          <p:cNvPr name="Group 11" id="11"/>
          <p:cNvGrpSpPr/>
          <p:nvPr/>
        </p:nvGrpSpPr>
        <p:grpSpPr>
          <a:xfrm rot="0">
            <a:off x="11212263" y="2468789"/>
            <a:ext cx="4926510" cy="617311"/>
            <a:chOff x="0" y="0"/>
            <a:chExt cx="1675434" cy="209938"/>
          </a:xfrm>
        </p:grpSpPr>
        <p:sp>
          <p:nvSpPr>
            <p:cNvPr name="Freeform 12" id="12"/>
            <p:cNvSpPr/>
            <p:nvPr/>
          </p:nvSpPr>
          <p:spPr>
            <a:xfrm flipH="false" flipV="false" rot="0">
              <a:off x="0" y="0"/>
              <a:ext cx="1675434" cy="209938"/>
            </a:xfrm>
            <a:custGeom>
              <a:avLst/>
              <a:gdLst/>
              <a:ahLst/>
              <a:cxnLst/>
              <a:rect r="r" b="b" t="t" l="l"/>
              <a:pathLst>
                <a:path h="209938" w="1675434">
                  <a:moveTo>
                    <a:pt x="203200" y="0"/>
                  </a:moveTo>
                  <a:lnTo>
                    <a:pt x="1675434" y="0"/>
                  </a:lnTo>
                  <a:lnTo>
                    <a:pt x="1472234" y="209938"/>
                  </a:lnTo>
                  <a:lnTo>
                    <a:pt x="0" y="209938"/>
                  </a:lnTo>
                  <a:lnTo>
                    <a:pt x="203200" y="0"/>
                  </a:lnTo>
                  <a:close/>
                </a:path>
              </a:pathLst>
            </a:custGeom>
            <a:solidFill>
              <a:srgbClr val="004AAD"/>
            </a:solidFill>
          </p:spPr>
        </p:sp>
        <p:sp>
          <p:nvSpPr>
            <p:cNvPr name="TextBox 13" id="13"/>
            <p:cNvSpPr txBox="true"/>
            <p:nvPr/>
          </p:nvSpPr>
          <p:spPr>
            <a:xfrm>
              <a:off x="101600" y="-38100"/>
              <a:ext cx="1472234" cy="248038"/>
            </a:xfrm>
            <a:prstGeom prst="rect">
              <a:avLst/>
            </a:prstGeom>
          </p:spPr>
          <p:txBody>
            <a:bodyPr anchor="ctr" rtlCol="false" tIns="50800" lIns="50800" bIns="50800" rIns="50800"/>
            <a:lstStyle/>
            <a:p>
              <a:pPr algn="ctr">
                <a:lnSpc>
                  <a:spcPts val="2799"/>
                </a:lnSpc>
              </a:pPr>
              <a:r>
                <a:rPr lang="en-US" sz="1999">
                  <a:solidFill>
                    <a:srgbClr val="FEFEFE"/>
                  </a:solidFill>
                  <a:latin typeface="Inter"/>
                  <a:ea typeface="Inter"/>
                  <a:cs typeface="Inter"/>
                  <a:sym typeface="Inter"/>
                </a:rPr>
                <a:t>Gestión de Rangos por Software</a:t>
              </a:r>
            </a:p>
          </p:txBody>
        </p:sp>
      </p:grpSp>
      <p:sp>
        <p:nvSpPr>
          <p:cNvPr name="TextBox 14" id="14"/>
          <p:cNvSpPr txBox="true"/>
          <p:nvPr/>
        </p:nvSpPr>
        <p:spPr>
          <a:xfrm rot="0">
            <a:off x="11364589" y="3713942"/>
            <a:ext cx="4992132" cy="4587777"/>
          </a:xfrm>
          <a:prstGeom prst="rect">
            <a:avLst/>
          </a:prstGeom>
        </p:spPr>
        <p:txBody>
          <a:bodyPr anchor="t" rtlCol="false" tIns="0" lIns="0" bIns="0" rIns="0">
            <a:spAutoFit/>
          </a:bodyPr>
          <a:lstStyle/>
          <a:p>
            <a:pPr algn="just">
              <a:lnSpc>
                <a:spcPts val="2805"/>
              </a:lnSpc>
              <a:spcBef>
                <a:spcPct val="0"/>
              </a:spcBef>
            </a:pPr>
            <a:r>
              <a:rPr lang="en-US" sz="2003">
                <a:solidFill>
                  <a:srgbClr val="004AAD"/>
                </a:solidFill>
                <a:latin typeface="Poppins"/>
                <a:ea typeface="Poppins"/>
                <a:cs typeface="Poppins"/>
                <a:sym typeface="Poppins"/>
              </a:rPr>
              <a:t>El</a:t>
            </a:r>
            <a:r>
              <a:rPr lang="en-US" sz="2003">
                <a:solidFill>
                  <a:srgbClr val="004AAD"/>
                </a:solidFill>
                <a:latin typeface="Poppins"/>
                <a:ea typeface="Poppins"/>
                <a:cs typeface="Poppins"/>
                <a:sym typeface="Poppins"/>
              </a:rPr>
              <a:t> dashboard incorpora una capa de abstracción que permite preconfigurar los rangos óptimos de temperatura y humedad según el tipo de alimento (bebidas, carnes, lácteos). Aunque el prototipo actual actúa bajo un umbral físico fijo de 30°C (almacén seco), esta interfaz sienta las bases lógicas para que el firmware reciba parámetros dinámicos desde la web en futuras actualizaciones, adaptando la alerta al insumo seleccionado sin necesidad de reprogramar el ESP32.</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ln w="76200" cap="sq">
              <a:solidFill>
                <a:srgbClr val="004AAD"/>
              </a:solidFill>
              <a:prstDash val="solid"/>
              <a:miter/>
            </a:ln>
          </p:spPr>
        </p:sp>
        <p:sp>
          <p:nvSpPr>
            <p:cNvPr name="TextBox 4" id="4"/>
            <p:cNvSpPr txBox="true"/>
            <p:nvPr/>
          </p:nvSpPr>
          <p:spPr>
            <a:xfrm>
              <a:off x="0" y="-66675"/>
              <a:ext cx="4274726" cy="2234142"/>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3361462" y="1028700"/>
            <a:ext cx="3897838" cy="4114800"/>
          </a:xfrm>
          <a:custGeom>
            <a:avLst/>
            <a:gdLst/>
            <a:ahLst/>
            <a:cxnLst/>
            <a:rect r="r" b="b" t="t" l="l"/>
            <a:pathLst>
              <a:path h="4114800" w="3897838">
                <a:moveTo>
                  <a:pt x="0" y="0"/>
                </a:moveTo>
                <a:lnTo>
                  <a:pt x="3897838" y="0"/>
                </a:lnTo>
                <a:lnTo>
                  <a:pt x="389783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028700" y="5143500"/>
            <a:ext cx="3897838" cy="4114800"/>
          </a:xfrm>
          <a:custGeom>
            <a:avLst/>
            <a:gdLst/>
            <a:ahLst/>
            <a:cxnLst/>
            <a:rect r="r" b="b" t="t" l="l"/>
            <a:pathLst>
              <a:path h="4114800" w="3897838">
                <a:moveTo>
                  <a:pt x="3897838" y="4114800"/>
                </a:moveTo>
                <a:lnTo>
                  <a:pt x="0" y="4114800"/>
                </a:lnTo>
                <a:lnTo>
                  <a:pt x="0" y="0"/>
                </a:lnTo>
                <a:lnTo>
                  <a:pt x="3897838" y="0"/>
                </a:lnTo>
                <a:lnTo>
                  <a:pt x="389783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385853" y="460665"/>
            <a:ext cx="17516294" cy="9365669"/>
            <a:chOff x="0" y="0"/>
            <a:chExt cx="4613345" cy="2466678"/>
          </a:xfrm>
        </p:grpSpPr>
        <p:sp>
          <p:nvSpPr>
            <p:cNvPr name="Freeform 8" id="8"/>
            <p:cNvSpPr/>
            <p:nvPr/>
          </p:nvSpPr>
          <p:spPr>
            <a:xfrm flipH="false" flipV="false" rot="0">
              <a:off x="0" y="0"/>
              <a:ext cx="4613345" cy="2466678"/>
            </a:xfrm>
            <a:custGeom>
              <a:avLst/>
              <a:gdLst/>
              <a:ahLst/>
              <a:cxnLst/>
              <a:rect r="r" b="b" t="t" l="l"/>
              <a:pathLst>
                <a:path h="2466678" w="4613345">
                  <a:moveTo>
                    <a:pt x="0" y="0"/>
                  </a:moveTo>
                  <a:lnTo>
                    <a:pt x="4613345" y="0"/>
                  </a:lnTo>
                  <a:lnTo>
                    <a:pt x="4613345" y="2466678"/>
                  </a:lnTo>
                  <a:lnTo>
                    <a:pt x="0" y="2466678"/>
                  </a:lnTo>
                  <a:close/>
                </a:path>
              </a:pathLst>
            </a:custGeom>
            <a:ln w="66675" cap="sq">
              <a:solidFill>
                <a:srgbClr val="004AAD"/>
              </a:solidFill>
              <a:prstDash val="solid"/>
              <a:miter/>
            </a:ln>
          </p:spPr>
        </p:sp>
        <p:sp>
          <p:nvSpPr>
            <p:cNvPr name="TextBox 9" id="9"/>
            <p:cNvSpPr txBox="true"/>
            <p:nvPr/>
          </p:nvSpPr>
          <p:spPr>
            <a:xfrm>
              <a:off x="0" y="-66675"/>
              <a:ext cx="4613345" cy="2533353"/>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905425" y="4302310"/>
            <a:ext cx="14477150" cy="2101481"/>
          </a:xfrm>
          <a:prstGeom prst="rect">
            <a:avLst/>
          </a:prstGeom>
        </p:spPr>
        <p:txBody>
          <a:bodyPr anchor="t" rtlCol="false" tIns="0" lIns="0" bIns="0" rIns="0">
            <a:spAutoFit/>
          </a:bodyPr>
          <a:lstStyle/>
          <a:p>
            <a:pPr algn="ctr">
              <a:lnSpc>
                <a:spcPts val="15403"/>
              </a:lnSpc>
            </a:pPr>
            <a:r>
              <a:rPr lang="en-US" b="true" sz="16563" spc="-1076">
                <a:solidFill>
                  <a:srgbClr val="004AAD"/>
                </a:solidFill>
                <a:latin typeface="Tomorrow Bold"/>
                <a:ea typeface="Tomorrow Bold"/>
                <a:cs typeface="Tomorrow Bold"/>
                <a:sym typeface="Tomorrow Bold"/>
              </a:rPr>
              <a:t>THANKYOU</a:t>
            </a:r>
          </a:p>
        </p:txBody>
      </p:sp>
      <p:grpSp>
        <p:nvGrpSpPr>
          <p:cNvPr name="Group 11" id="11"/>
          <p:cNvGrpSpPr/>
          <p:nvPr/>
        </p:nvGrpSpPr>
        <p:grpSpPr>
          <a:xfrm rot="0">
            <a:off x="2124253" y="3280074"/>
            <a:ext cx="4322162" cy="797110"/>
            <a:chOff x="0" y="0"/>
            <a:chExt cx="1138347" cy="209938"/>
          </a:xfrm>
        </p:grpSpPr>
        <p:sp>
          <p:nvSpPr>
            <p:cNvPr name="Freeform 12" id="12"/>
            <p:cNvSpPr/>
            <p:nvPr/>
          </p:nvSpPr>
          <p:spPr>
            <a:xfrm flipH="false" flipV="false" rot="0">
              <a:off x="0" y="0"/>
              <a:ext cx="1138347" cy="209938"/>
            </a:xfrm>
            <a:custGeom>
              <a:avLst/>
              <a:gdLst/>
              <a:ahLst/>
              <a:cxnLst/>
              <a:rect r="r" b="b" t="t" l="l"/>
              <a:pathLst>
                <a:path h="209938" w="1138347">
                  <a:moveTo>
                    <a:pt x="203200" y="0"/>
                  </a:moveTo>
                  <a:lnTo>
                    <a:pt x="1138347" y="0"/>
                  </a:lnTo>
                  <a:lnTo>
                    <a:pt x="935147" y="209938"/>
                  </a:lnTo>
                  <a:lnTo>
                    <a:pt x="0" y="209938"/>
                  </a:lnTo>
                  <a:lnTo>
                    <a:pt x="203200" y="0"/>
                  </a:lnTo>
                  <a:close/>
                </a:path>
              </a:pathLst>
            </a:custGeom>
            <a:solidFill>
              <a:srgbClr val="004AAD"/>
            </a:solidFill>
          </p:spPr>
        </p:sp>
        <p:sp>
          <p:nvSpPr>
            <p:cNvPr name="TextBox 13" id="13"/>
            <p:cNvSpPr txBox="true"/>
            <p:nvPr/>
          </p:nvSpPr>
          <p:spPr>
            <a:xfrm>
              <a:off x="101600" y="-47625"/>
              <a:ext cx="935147" cy="257563"/>
            </a:xfrm>
            <a:prstGeom prst="rect">
              <a:avLst/>
            </a:prstGeom>
          </p:spPr>
          <p:txBody>
            <a:bodyPr anchor="ctr" rtlCol="false" tIns="50800" lIns="50800" bIns="50800" rIns="50800"/>
            <a:lstStyle/>
            <a:p>
              <a:pPr algn="ctr">
                <a:lnSpc>
                  <a:spcPts val="3639"/>
                </a:lnSpc>
              </a:pPr>
              <a:r>
                <a:rPr lang="en-US" sz="2599">
                  <a:solidFill>
                    <a:srgbClr val="FEFEFE"/>
                  </a:solidFill>
                  <a:latin typeface="Inter"/>
                  <a:ea typeface="Inter"/>
                  <a:cs typeface="Inter"/>
                  <a:sym typeface="Inter"/>
                </a:rPr>
                <a:t>Thynk Unlimited</a:t>
              </a:r>
            </a:p>
          </p:txBody>
        </p:sp>
      </p:grpSp>
      <p:grpSp>
        <p:nvGrpSpPr>
          <p:cNvPr name="Group 14" id="14"/>
          <p:cNvGrpSpPr/>
          <p:nvPr/>
        </p:nvGrpSpPr>
        <p:grpSpPr>
          <a:xfrm rot="0">
            <a:off x="7671804" y="6403790"/>
            <a:ext cx="8337945" cy="797110"/>
            <a:chOff x="0" y="0"/>
            <a:chExt cx="2196002" cy="209938"/>
          </a:xfrm>
        </p:grpSpPr>
        <p:sp>
          <p:nvSpPr>
            <p:cNvPr name="Freeform 15" id="15"/>
            <p:cNvSpPr/>
            <p:nvPr/>
          </p:nvSpPr>
          <p:spPr>
            <a:xfrm flipH="false" flipV="false" rot="0">
              <a:off x="0" y="0"/>
              <a:ext cx="2196002" cy="209938"/>
            </a:xfrm>
            <a:custGeom>
              <a:avLst/>
              <a:gdLst/>
              <a:ahLst/>
              <a:cxnLst/>
              <a:rect r="r" b="b" t="t" l="l"/>
              <a:pathLst>
                <a:path h="209938" w="2196002">
                  <a:moveTo>
                    <a:pt x="203200" y="0"/>
                  </a:moveTo>
                  <a:lnTo>
                    <a:pt x="2196002" y="0"/>
                  </a:lnTo>
                  <a:lnTo>
                    <a:pt x="1992802" y="209938"/>
                  </a:lnTo>
                  <a:lnTo>
                    <a:pt x="0" y="209938"/>
                  </a:lnTo>
                  <a:lnTo>
                    <a:pt x="203200" y="0"/>
                  </a:lnTo>
                  <a:close/>
                </a:path>
              </a:pathLst>
            </a:custGeom>
            <a:solidFill>
              <a:srgbClr val="004AAD"/>
            </a:solidFill>
          </p:spPr>
        </p:sp>
        <p:sp>
          <p:nvSpPr>
            <p:cNvPr name="TextBox 16" id="16"/>
            <p:cNvSpPr txBox="true"/>
            <p:nvPr/>
          </p:nvSpPr>
          <p:spPr>
            <a:xfrm>
              <a:off x="101600" y="-47625"/>
              <a:ext cx="1992802" cy="257563"/>
            </a:xfrm>
            <a:prstGeom prst="rect">
              <a:avLst/>
            </a:prstGeom>
          </p:spPr>
          <p:txBody>
            <a:bodyPr anchor="ctr" rtlCol="false" tIns="50800" lIns="50800" bIns="50800" rIns="50800"/>
            <a:lstStyle/>
            <a:p>
              <a:pPr algn="ctr">
                <a:lnSpc>
                  <a:spcPts val="3639"/>
                </a:lnSpc>
              </a:pPr>
              <a:r>
                <a:rPr lang="en-US" sz="2599">
                  <a:solidFill>
                    <a:srgbClr val="FEFEFE"/>
                  </a:solidFill>
                  <a:latin typeface="Inter"/>
                  <a:ea typeface="Inter"/>
                  <a:cs typeface="Inter"/>
                  <a:sym typeface="Inter"/>
                </a:rPr>
                <a:t>We're Midway Through the Transformation</a:t>
              </a:r>
            </a:p>
          </p:txBody>
        </p:sp>
      </p:grpSp>
      <p:grpSp>
        <p:nvGrpSpPr>
          <p:cNvPr name="Group 17" id="17"/>
          <p:cNvGrpSpPr/>
          <p:nvPr/>
        </p:nvGrpSpPr>
        <p:grpSpPr>
          <a:xfrm rot="0">
            <a:off x="14230708" y="3576106"/>
            <a:ext cx="1478228" cy="398555"/>
            <a:chOff x="0" y="0"/>
            <a:chExt cx="1970971" cy="531406"/>
          </a:xfrm>
        </p:grpSpPr>
        <p:grpSp>
          <p:nvGrpSpPr>
            <p:cNvPr name="Group 18" id="18"/>
            <p:cNvGrpSpPr/>
            <p:nvPr/>
          </p:nvGrpSpPr>
          <p:grpSpPr>
            <a:xfrm rot="0">
              <a:off x="1439565" y="0"/>
              <a:ext cx="531406" cy="53140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0" id="20"/>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721906" y="0"/>
              <a:ext cx="531406" cy="53140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3" id="23"/>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0" y="0"/>
              <a:ext cx="531406" cy="53140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26" id="26"/>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grpSp>
        <p:nvGrpSpPr>
          <p:cNvPr name="Group 27" id="27"/>
          <p:cNvGrpSpPr/>
          <p:nvPr/>
        </p:nvGrpSpPr>
        <p:grpSpPr>
          <a:xfrm rot="0">
            <a:off x="2389228" y="6603068"/>
            <a:ext cx="1478228" cy="398555"/>
            <a:chOff x="0" y="0"/>
            <a:chExt cx="1970971" cy="531406"/>
          </a:xfrm>
        </p:grpSpPr>
        <p:grpSp>
          <p:nvGrpSpPr>
            <p:cNvPr name="Group 28" id="28"/>
            <p:cNvGrpSpPr/>
            <p:nvPr/>
          </p:nvGrpSpPr>
          <p:grpSpPr>
            <a:xfrm rot="0">
              <a:off x="1439565" y="0"/>
              <a:ext cx="531406" cy="53140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0" id="30"/>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31" id="31"/>
            <p:cNvGrpSpPr/>
            <p:nvPr/>
          </p:nvGrpSpPr>
          <p:grpSpPr>
            <a:xfrm rot="0">
              <a:off x="721906" y="0"/>
              <a:ext cx="531406" cy="531406"/>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3" id="33"/>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34" id="34"/>
            <p:cNvGrpSpPr/>
            <p:nvPr/>
          </p:nvGrpSpPr>
          <p:grpSpPr>
            <a:xfrm rot="0">
              <a:off x="0" y="0"/>
              <a:ext cx="531406" cy="53140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36" id="36"/>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DAHOGiZwLy4</dc:identifier>
  <dcterms:modified xsi:type="dcterms:W3CDTF">2011-08-01T06:04:30Z</dcterms:modified>
  <cp:revision>1</cp:revision>
  <dc:title>E4</dc:title>
</cp:coreProperties>
</file>